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cessidade" id="{478afe43-4eed-6e9e-8a2e-77522674f624}">
          <p14:sldIdLst>
            <p14:sldId id="256"/>
            <p14:sldId id="257"/>
            <p14:sldId id="258"/>
          </p14:sldIdLst>
        </p14:section>
        <p14:section name="Proposta" id="{bd05d6a7-e6a6-4fc5-6bbc-f82a9a91086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Método" id="{e89fc7f2-c82d-1297-9760-0edd5de0f151}">
          <p14:sldIdLst>
            <p14:sldId id="271"/>
            <p14:sldId id="272"/>
            <p14:sldId id="273"/>
            <p14:sldId id="274"/>
            <p14:sldId id="275"/>
          </p14:sldIdLst>
        </p14:section>
        <p14:section name="Execução" id="{83281660-5d67-dd0a-2fc4-901b7a66820a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TCC parte de uma necessidade real: pequenos negócios precisam controlar estoque, vendas e clientes, mas não conseguem pagar por um sistema sob medida. A Forja deixa o próprio dono criar esse sistema, no computador da loja, sem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citar números sem fonte verificada. A caracterização da necessidade com dados setoriais é o primeiro objetivo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fictícia, usada só para ilustrar. Na fundamentação, a necessidade será sustentada por dados e por conversas exploratórias com 2 ou 3 empreendedores.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promessa precisa ser verificada pela avaliação: o TCC mede se ela se cumpre, e em que medida.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Agilidade e qualidade vêm do tema original. A comparação com o modo guiado sem IA isola o efeito da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interpreta a linguagem do usuário (etapas 1 a 3). Modelos, documentação, layout e entrega são feitos pelo motor a partir do mapa, iguais nos dois modos: isso garante confiabilidade e isola o efeito da IA. Nada avança sem aprovação, e dá para voltar a qualquer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por exemplo é o recurso central para quem não programa: a pessoa não precisa ler a regra formal, só dizer se o exemplo está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propõe as entidades e os relacionamentos a partir do mapeamento e das regras; o usuário ajusta no diagrama. A etapa de modelos é determinística.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Telas e documentação saem do mapa pelo motor; o usuário personaliza estilo, cores, logo e menu, com prévia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central de arquitetura: a IA não escreve o código livremente. Ela produz o mapa do sistema, e o motor por templates gera o código de forma determinística.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Contrato v0.2 em src/forja/contrato/mapa-do-sistema.schema.json (Marco 1, etapa 1, 28/10/2026). A regra mostrada só é verificada ao concluir a venda, para cada item. Testes estruturais: 27 passando. A validação semântica (referências, tipos, ciclos) é a etapa 2 e ainda não existe. Saída da IA fora do contrato será rejeitada.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meta de 16 GB não está validada: o piloto mede o desempenho com e sem GPU. Máquina de desenvolvimento: RTX 3060 12 GB, 24 GB de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Funcionar sem IA e sem internet precisa ser comprovado, não suposto. O resultado vai para docs/forja/prova-offline.md. O Windows Sandbox é gratuito no Windows 11 Pro, mas precisa ser ativado como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chaves mostram um exemplo: a Ana ligou estoque, vendas, clientes e encomendas.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usuário cria quantas entidades, campos, relacionamentos e regras quiser, dentro destas combinações. Matriz completa em docs/forja/README.md.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DSR é adequado quando o TCC constrói um artefato para resolver um problema real e o avalia. As atividades 3 e 5 concentram o esforço.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frente técnica não envolve pessoas e responde H1 a H3. A frente com usuários responde H4 e depende do CEP; se não couber no prazo, vira trabalho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única diferença entre os modos é quem traduz a descrição do negócio em alterações no mapa. Nenhuma dica ou atalho existe só num dos modos. Propostas da IA rejeitadas pelo schema são contadas (rejeicoes_schema).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a H3: comparação pareada por cenário (IA × guiado), Hodges-Lehmann, bootstrap, teste de permutação e correção de Holm. H4 é descritiva.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escopo é o que torna um 'sistema completo' viável num TCC. Os itens de fora são declarados como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mínimo, se o prazo for curto: módulos estoque, vendas e clientes; um estilo de layout; 6 cenários; avaliação com usuários reduzida ou só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do negócio: tudo local, nada sai da máquina; o manual orienta sobre backup e 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_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0"/>
            <a:ext cx="5760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Forja · Proposta de TCC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_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5486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Forja: sistemas sob medida para pequenos negócios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Proposta de TCC: um sistema que cria sistemas, com IA generativa local e custo zero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Nathan Thomaz · Sistemas de Informação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Outubro de 2026 · Orientador(a): a definir</a:t>
            </a:r>
            <a:endParaRPr lang="en-US" sz="1400" dirty="0"/>
          </a:p>
        </p:txBody>
      </p:sp>
      <p:sp>
        <p:nvSpPr>
          <p:cNvPr id="5" name="martelo-circulo"/>
          <p:cNvSpPr/>
          <p:nvPr/>
        </p:nvSpPr>
        <p:spPr>
          <a:xfrm>
            <a:off x="6583680" y="141732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artelo" descr="mart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920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problema dos pequenos negócios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Controlar estoque, vendas e clientes é essencial, mas as opções de hoje não cabem no bolso nem nas regras do pequeno negócio.</a:t>
            </a:r>
            <a:endParaRPr lang="en-US" sz="1500" dirty="0"/>
          </a:p>
        </p:txBody>
      </p:sp>
      <p:sp>
        <p:nvSpPr>
          <p:cNvPr id="4" name="opcao-1"/>
          <p:cNvSpPr/>
          <p:nvPr/>
        </p:nvSpPr>
        <p:spPr>
          <a:xfrm>
            <a:off x="457200" y="178308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icone-opcao-1-circulo"/>
          <p:cNvSpPr/>
          <p:nvPr/>
        </p:nvSpPr>
        <p:spPr>
          <a:xfrm>
            <a:off x="685800" y="19659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e-opcao-1" descr="icone-opca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1145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Sistema pronto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906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Mensalidade sem fim, não se adapta às regras do negócio e os dados ficam fora da empresa.</a:t>
            </a:r>
            <a:endParaRPr lang="en-US" sz="1300" dirty="0"/>
          </a:p>
        </p:txBody>
      </p:sp>
      <p:sp>
        <p:nvSpPr>
          <p:cNvPr id="9" name="opcao-2"/>
          <p:cNvSpPr/>
          <p:nvPr/>
        </p:nvSpPr>
        <p:spPr>
          <a:xfrm>
            <a:off x="3268980" y="178308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icone-opcao-2-circulo"/>
          <p:cNvSpPr/>
          <p:nvPr/>
        </p:nvSpPr>
        <p:spPr>
          <a:xfrm>
            <a:off x="3497580" y="19659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e-opcao-2" descr="icone-opca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1145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75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Desenvolvedor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30906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Caro e demorado para o porte do negócio. Cada mudança é um custo novo.</a:t>
            </a:r>
            <a:endParaRPr lang="en-US" sz="1300" dirty="0"/>
          </a:p>
        </p:txBody>
      </p:sp>
      <p:sp>
        <p:nvSpPr>
          <p:cNvPr id="14" name="opcao-3"/>
          <p:cNvSpPr/>
          <p:nvPr/>
        </p:nvSpPr>
        <p:spPr>
          <a:xfrm>
            <a:off x="6080760" y="178308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5" name="icone-opcao-3-circulo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e-opcao-3" descr="icone-opca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1145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Planilha e caderno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0906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Sem regras, sem ligação entre os dados, fácil de errar e de perder.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Dados do setor (SEBRAE, IBGE) serão levantados e verificados na fundamentação.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Ana precisa de um sistema</a:t>
            </a:r>
            <a:endParaRPr lang="en-US" sz="3400" dirty="0"/>
          </a:p>
        </p:txBody>
      </p:sp>
      <p:sp>
        <p:nvSpPr>
          <p:cNvPr id="3" name="loja-circulo"/>
          <p:cNvSpPr/>
          <p:nvPr/>
        </p:nvSpPr>
        <p:spPr>
          <a:xfrm>
            <a:off x="457200" y="1097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loja" descr="lo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3144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Ana, padaria de bairro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persona ilustrativa</a:t>
            </a:r>
            <a:endParaRPr lang="en-US" sz="1200" dirty="0"/>
          </a:p>
        </p:txBody>
      </p:sp>
      <p:sp>
        <p:nvSpPr>
          <p:cNvPr id="7" name="citacao"/>
          <p:cNvSpPr/>
          <p:nvPr/>
        </p:nvSpPr>
        <p:spPr>
          <a:xfrm>
            <a:off x="457200" y="2148840"/>
            <a:ext cx="393192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14884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“Quero saber o que está acabando, quem compra fiado e quanto vendi no dia, sem pagar mensalidade e sem depender de ninguém.”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que ela precisa controlar</a:t>
            </a:r>
            <a:endParaRPr lang="en-US" sz="1600" dirty="0"/>
          </a:p>
        </p:txBody>
      </p:sp>
      <p:sp>
        <p:nvSpPr>
          <p:cNvPr id="10" name="precisa-1-circulo"/>
          <p:cNvSpPr/>
          <p:nvPr/>
        </p:nvSpPr>
        <p:spPr>
          <a:xfrm>
            <a:off x="4754880" y="164592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precisa-1" descr="precisa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7556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6459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Estoque, com aviso de produto acabando</a:t>
            </a:r>
            <a:endParaRPr lang="en-US" sz="1400" dirty="0"/>
          </a:p>
        </p:txBody>
      </p:sp>
      <p:sp>
        <p:nvSpPr>
          <p:cNvPr id="13" name="precisa-2-circulo"/>
          <p:cNvSpPr/>
          <p:nvPr/>
        </p:nvSpPr>
        <p:spPr>
          <a:xfrm>
            <a:off x="4754880" y="2221992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precisa-2" descr="precisa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3317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22219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Encomendas, com data de entrega</a:t>
            </a:r>
            <a:endParaRPr lang="en-US" sz="1400" dirty="0"/>
          </a:p>
        </p:txBody>
      </p:sp>
      <p:sp>
        <p:nvSpPr>
          <p:cNvPr id="16" name="precisa-3-circulo"/>
          <p:cNvSpPr/>
          <p:nvPr/>
        </p:nvSpPr>
        <p:spPr>
          <a:xfrm>
            <a:off x="4754880" y="2798064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precisa-3" descr="precisa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90779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49240" y="279806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Fiado, com limite por cliente</a:t>
            </a:r>
            <a:endParaRPr lang="en-US" sz="1400" dirty="0"/>
          </a:p>
        </p:txBody>
      </p:sp>
      <p:sp>
        <p:nvSpPr>
          <p:cNvPr id="19" name="precisa-4-circulo"/>
          <p:cNvSpPr/>
          <p:nvPr/>
        </p:nvSpPr>
        <p:spPr>
          <a:xfrm>
            <a:off x="4754880" y="3374136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precisa-4" descr="precisa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83864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49240" y="337413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Resumo das vendas do dia</a:t>
            </a:r>
            <a:endParaRPr lang="en-US" sz="1400" dirty="0"/>
          </a:p>
        </p:txBody>
      </p:sp>
      <p:sp>
        <p:nvSpPr>
          <p:cNvPr id="22" name="restricao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Restrição: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ela não programa e tem um computador comum no balcão.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proposta: Forja</a:t>
            </a:r>
            <a:endParaRPr lang="en-US" sz="3400" dirty="0"/>
          </a:p>
        </p:txBody>
      </p:sp>
      <p:sp>
        <p:nvSpPr>
          <p:cNvPr id="3" name="proposta-1-circulo"/>
          <p:cNvSpPr/>
          <p:nvPr/>
        </p:nvSpPr>
        <p:spPr>
          <a:xfrm>
            <a:off x="1143000" y="10972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proposta-1" descr="propost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 descreve o negócio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487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 linguagem comum, numa conversa guiada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1554480"/>
            <a:ext cx="178308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8" name="proposta-2-circulo"/>
          <p:cNvSpPr/>
          <p:nvPr/>
        </p:nvSpPr>
        <p:spPr>
          <a:xfrm>
            <a:off x="4114800" y="10972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posta-2" descr="propost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Forja monta o sistema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2487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Mapeia, define regras, modela, documenta e desenha as telas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66360" y="1554480"/>
            <a:ext cx="178308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3" name="proposta-3-circulo"/>
          <p:cNvSpPr/>
          <p:nvPr/>
        </p:nvSpPr>
        <p:spPr>
          <a:xfrm>
            <a:off x="7086600" y="10972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proposta-3" descr="propost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25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Sistema rodando no balcão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2487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Pronto para cadastrar, vender e consultar</a:t>
            </a:r>
            <a:endParaRPr lang="en-US" sz="1400" dirty="0"/>
          </a:p>
        </p:txBody>
      </p:sp>
      <p:sp>
        <p:nvSpPr>
          <p:cNvPr id="17" name="promessa-1"/>
          <p:cNvSpPr/>
          <p:nvPr/>
        </p:nvSpPr>
        <p:spPr>
          <a:xfrm>
            <a:off x="457200" y="3474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pic>
        <p:nvPicPr>
          <p:cNvPr id="18" name="icone-promessa-1" descr="icone-promessa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63931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78992" y="3474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Sem programar</a:t>
            </a:r>
            <a:endParaRPr lang="en-US" sz="1300" dirty="0"/>
          </a:p>
        </p:txBody>
      </p:sp>
      <p:sp>
        <p:nvSpPr>
          <p:cNvPr id="20" name="promessa-2"/>
          <p:cNvSpPr/>
          <p:nvPr/>
        </p:nvSpPr>
        <p:spPr>
          <a:xfrm>
            <a:off x="2560320" y="3474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pic>
        <p:nvPicPr>
          <p:cNvPr id="21" name="icone-promessa-2" descr="icone-promessa-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3639312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182112" y="3474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Sem mensalidade</a:t>
            </a:r>
            <a:endParaRPr lang="en-US" sz="1300" dirty="0"/>
          </a:p>
        </p:txBody>
      </p:sp>
      <p:sp>
        <p:nvSpPr>
          <p:cNvPr id="23" name="promessa-3"/>
          <p:cNvSpPr/>
          <p:nvPr/>
        </p:nvSpPr>
        <p:spPr>
          <a:xfrm>
            <a:off x="4663440" y="3474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pic>
        <p:nvPicPr>
          <p:cNvPr id="24" name="icone-promessa-3" descr="icone-promessa-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39312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5232" y="3474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Sem depender de internet</a:t>
            </a:r>
            <a:endParaRPr lang="en-US" sz="1300" dirty="0"/>
          </a:p>
        </p:txBody>
      </p:sp>
      <p:sp>
        <p:nvSpPr>
          <p:cNvPr id="26" name="promessa-4"/>
          <p:cNvSpPr/>
          <p:nvPr/>
        </p:nvSpPr>
        <p:spPr>
          <a:xfrm>
            <a:off x="6766560" y="3474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pic>
        <p:nvPicPr>
          <p:cNvPr id="27" name="icone-promessa-4" descr="icone-promessa-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3639312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388352" y="3474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Dados ficam na loja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Pergunta de pesquisa</a:t>
            </a:r>
            <a:endParaRPr lang="en-US" sz="3400" dirty="0"/>
          </a:p>
        </p:txBody>
      </p:sp>
      <p:sp>
        <p:nvSpPr>
          <p:cNvPr id="3" name="pergunta"/>
          <p:cNvSpPr/>
          <p:nvPr/>
        </p:nvSpPr>
        <p:spPr>
          <a:xfrm>
            <a:off x="457200" y="1097280"/>
            <a:ext cx="8229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Em que medida um sistema gerador baseado em IA generativa executada localmente permite que pessoas sem conhecimento de programação criem sistemas de controle funcionais e aderentes às regras do seu negócio, e qual é o efeito da IA sobre o tempo, a qualidade e o retrabalho desse processo, em comparação com um processo guiado sem IA?</a:t>
            </a:r>
            <a:endParaRPr lang="en-US" sz="1600" dirty="0"/>
          </a:p>
        </p:txBody>
      </p:sp>
      <p:sp>
        <p:nvSpPr>
          <p:cNvPr id="5" name="dimensao-1-circulo"/>
          <p:cNvSpPr/>
          <p:nvPr/>
        </p:nvSpPr>
        <p:spPr>
          <a:xfrm>
            <a:off x="457200" y="34747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imensao-1" descr="dimensa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6393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52728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Agilidade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252728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tempo até o sistema funcionar</a:t>
            </a:r>
            <a:endParaRPr lang="en-US" sz="1300" dirty="0"/>
          </a:p>
        </p:txBody>
      </p:sp>
      <p:sp>
        <p:nvSpPr>
          <p:cNvPr id="9" name="dimensao-2-circulo"/>
          <p:cNvSpPr/>
          <p:nvPr/>
        </p:nvSpPr>
        <p:spPr>
          <a:xfrm>
            <a:off x="3291840" y="34747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imensao-2" descr="dimensa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63931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Qualidade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087368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aderência às regras do negócio</a:t>
            </a:r>
            <a:endParaRPr lang="en-US" sz="1300" dirty="0"/>
          </a:p>
        </p:txBody>
      </p:sp>
      <p:sp>
        <p:nvSpPr>
          <p:cNvPr id="13" name="dimensao-3-circulo"/>
          <p:cNvSpPr/>
          <p:nvPr/>
        </p:nvSpPr>
        <p:spPr>
          <a:xfrm>
            <a:off x="6126480" y="347472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dimensao-3" descr="dimensa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6393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22008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Retrabalho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922008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correções feitas pelo usuário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processo completo, em 7 etapas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Etapa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 Forja propõe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4652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Você decide</a:t>
            </a:r>
            <a:endParaRPr lang="en-US" sz="1200" dirty="0"/>
          </a:p>
        </p:txBody>
      </p:sp>
      <p:sp>
        <p:nvSpPr>
          <p:cNvPr id="6" name="linha-etapa-1"/>
          <p:cNvSpPr/>
          <p:nvPr/>
        </p:nvSpPr>
        <p:spPr>
          <a:xfrm>
            <a:off x="457200" y="132588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7" name="num-etapa-1"/>
          <p:cNvSpPr/>
          <p:nvPr/>
        </p:nvSpPr>
        <p:spPr>
          <a:xfrm>
            <a:off x="530352" y="136245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Mapeamento do negócio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25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conduz a conversa e identifica os processos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responde e corrige</a:t>
            </a:r>
            <a:endParaRPr lang="en-US" sz="1300" dirty="0"/>
          </a:p>
        </p:txBody>
      </p:sp>
      <p:sp>
        <p:nvSpPr>
          <p:cNvPr id="12" name="linha-etapa-2"/>
          <p:cNvSpPr/>
          <p:nvPr/>
        </p:nvSpPr>
        <p:spPr>
          <a:xfrm>
            <a:off x="457200" y="1755648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13" name="num-etapa-2"/>
          <p:cNvSpPr/>
          <p:nvPr/>
        </p:nvSpPr>
        <p:spPr>
          <a:xfrm>
            <a:off x="530352" y="179222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1755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Regras de negócio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755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traduz frases em regras, com exemplos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define e aprova cada regra</a:t>
            </a:r>
            <a:endParaRPr lang="en-US" sz="1300" dirty="0"/>
          </a:p>
        </p:txBody>
      </p:sp>
      <p:sp>
        <p:nvSpPr>
          <p:cNvPr id="18" name="linha-etapa-3"/>
          <p:cNvSpPr/>
          <p:nvPr/>
        </p:nvSpPr>
        <p:spPr>
          <a:xfrm>
            <a:off x="457200" y="2185416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9" name="num-etapa-3"/>
          <p:cNvSpPr/>
          <p:nvPr/>
        </p:nvSpPr>
        <p:spPr>
          <a:xfrm>
            <a:off x="530352" y="222199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21854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Entidades e relacionamentos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1854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propõe o diagrama de dados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185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ajusta campos e ligações</a:t>
            </a:r>
            <a:endParaRPr lang="en-US" sz="1300" dirty="0"/>
          </a:p>
        </p:txBody>
      </p:sp>
      <p:sp>
        <p:nvSpPr>
          <p:cNvPr id="24" name="linha-etapa-4"/>
          <p:cNvSpPr/>
          <p:nvPr/>
        </p:nvSpPr>
        <p:spPr>
          <a:xfrm>
            <a:off x="457200" y="2615184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25" name="num-etapa-4"/>
          <p:cNvSpPr/>
          <p:nvPr/>
        </p:nvSpPr>
        <p:spPr>
          <a:xfrm>
            <a:off x="530352" y="26517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2615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Modelos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26151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(motor) gera banco, validações e testes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2615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revisa o resumo</a:t>
            </a:r>
            <a:endParaRPr lang="en-US" sz="1300" dirty="0"/>
          </a:p>
        </p:txBody>
      </p:sp>
      <p:sp>
        <p:nvSpPr>
          <p:cNvPr id="30" name="linha-etapa-5"/>
          <p:cNvSpPr/>
          <p:nvPr/>
        </p:nvSpPr>
        <p:spPr>
          <a:xfrm>
            <a:off x="457200" y="3044952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1" name="num-etapa-5"/>
          <p:cNvSpPr/>
          <p:nvPr/>
        </p:nvSpPr>
        <p:spPr>
          <a:xfrm>
            <a:off x="530352" y="308152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0352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044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Documentação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30449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(motor) manual e dicionário de dados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3044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revisa</a:t>
            </a:r>
            <a:endParaRPr lang="en-US" sz="1300" dirty="0"/>
          </a:p>
        </p:txBody>
      </p:sp>
      <p:sp>
        <p:nvSpPr>
          <p:cNvPr id="36" name="linha-etapa-6"/>
          <p:cNvSpPr/>
          <p:nvPr/>
        </p:nvSpPr>
        <p:spPr>
          <a:xfrm>
            <a:off x="457200" y="3474720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37" name="num-etapa-6"/>
          <p:cNvSpPr/>
          <p:nvPr/>
        </p:nvSpPr>
        <p:spPr>
          <a:xfrm>
            <a:off x="530352" y="351129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035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Layout final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383280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(motor) telas padrão, a partir do mapa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escolhe estilo, cores e logo</a:t>
            </a:r>
            <a:endParaRPr lang="en-US" sz="1300" dirty="0"/>
          </a:p>
        </p:txBody>
      </p:sp>
      <p:sp>
        <p:nvSpPr>
          <p:cNvPr id="42" name="linha-etapa-7"/>
          <p:cNvSpPr/>
          <p:nvPr/>
        </p:nvSpPr>
        <p:spPr>
          <a:xfrm>
            <a:off x="457200" y="3904488"/>
            <a:ext cx="822960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43" name="num-etapa-7"/>
          <p:cNvSpPr/>
          <p:nvPr/>
        </p:nvSpPr>
        <p:spPr>
          <a:xfrm>
            <a:off x="530352" y="394106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30352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60120" y="3904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Entrega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383280" y="39044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(motor) monta o sistema local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abre e usa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 IA atua só nas etapas 1 a 3. Da 4 em diante, o mesmo mapa gera sempre o mesmo resultado.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Mapeamento e regras de negócio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1024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Ana</a:t>
            </a:r>
            <a:endParaRPr lang="en-US" sz="1100" dirty="0"/>
          </a:p>
        </p:txBody>
      </p:sp>
      <p:sp>
        <p:nvSpPr>
          <p:cNvPr id="4" name="fala-1"/>
          <p:cNvSpPr/>
          <p:nvPr/>
        </p:nvSpPr>
        <p:spPr>
          <a:xfrm>
            <a:off x="1554480" y="1261872"/>
            <a:ext cx="3108960" cy="502920"/>
          </a:xfrm>
          <a:prstGeom prst="roundRect">
            <a:avLst>
              <a:gd name="adj" fmla="val 27273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37360" y="1261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Não posso vender o que acabou.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Forja</a:t>
            </a:r>
            <a:endParaRPr lang="en-US" sz="1100" dirty="0"/>
          </a:p>
        </p:txBody>
      </p:sp>
      <p:sp>
        <p:nvSpPr>
          <p:cNvPr id="7" name="fala-2"/>
          <p:cNvSpPr/>
          <p:nvPr/>
        </p:nvSpPr>
        <p:spPr>
          <a:xfrm>
            <a:off x="457200" y="2103120"/>
            <a:ext cx="384048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0312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Entendi: a venda é bloqueada se a quantidade for maior que o estoque. Exemplo: vender 5 pães com 3 em estoque → bloqueado. Está certo?</a:t>
            </a:r>
            <a:endParaRPr lang="en-US" sz="1400" dirty="0"/>
          </a:p>
        </p:txBody>
      </p:sp>
      <p:sp>
        <p:nvSpPr>
          <p:cNvPr id="9" name="fala-3"/>
          <p:cNvSpPr/>
          <p:nvPr/>
        </p:nvSpPr>
        <p:spPr>
          <a:xfrm>
            <a:off x="3108960" y="3611880"/>
            <a:ext cx="155448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Isso mesmo!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2651760"/>
            <a:ext cx="32004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257800" y="1024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Vira regra formal</a:t>
            </a:r>
            <a:endParaRPr lang="en-US" sz="1500" dirty="0"/>
          </a:p>
        </p:txBody>
      </p:sp>
      <p:sp>
        <p:nvSpPr>
          <p:cNvPr id="13" name="regra-1"/>
          <p:cNvSpPr/>
          <p:nvPr/>
        </p:nvSpPr>
        <p:spPr>
          <a:xfrm>
            <a:off x="5257800" y="1417320"/>
            <a:ext cx="34290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40680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Regra 1 · Restrição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18196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Venda.quantidade ≤ Produto.estoque</a:t>
            </a:r>
            <a:endParaRPr lang="en-US" sz="1300" dirty="0"/>
          </a:p>
        </p:txBody>
      </p:sp>
      <p:sp>
        <p:nvSpPr>
          <p:cNvPr id="16" name="aprovada-1-circulo"/>
          <p:cNvSpPr/>
          <p:nvPr/>
        </p:nvSpPr>
        <p:spPr>
          <a:xfrm>
            <a:off x="8302752" y="15087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provada-1" descr="aprovad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572768"/>
            <a:ext cx="128016" cy="128016"/>
          </a:xfrm>
          <a:prstGeom prst="rect">
            <a:avLst/>
          </a:prstGeom>
        </p:spPr>
      </p:pic>
      <p:sp>
        <p:nvSpPr>
          <p:cNvPr id="18" name="regra-2"/>
          <p:cNvSpPr/>
          <p:nvPr/>
        </p:nvSpPr>
        <p:spPr>
          <a:xfrm>
            <a:off x="5257800" y="2331720"/>
            <a:ext cx="34290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40680" y="2404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Regra 2 · Limite de fiado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2734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Cliente.fiado + Venda.total ≤ R$ 200</a:t>
            </a:r>
            <a:endParaRPr lang="en-US" sz="1300" dirty="0"/>
          </a:p>
        </p:txBody>
      </p:sp>
      <p:sp>
        <p:nvSpPr>
          <p:cNvPr id="21" name="aprovada-2-circulo"/>
          <p:cNvSpPr/>
          <p:nvPr/>
        </p:nvSpPr>
        <p:spPr>
          <a:xfrm>
            <a:off x="8302752" y="24231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provada-2" descr="aprovad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487168"/>
            <a:ext cx="128016" cy="128016"/>
          </a:xfrm>
          <a:prstGeom prst="rect">
            <a:avLst/>
          </a:prstGeom>
        </p:spPr>
      </p:pic>
      <p:sp>
        <p:nvSpPr>
          <p:cNvPr id="23" name="regra-3"/>
          <p:cNvSpPr/>
          <p:nvPr/>
        </p:nvSpPr>
        <p:spPr>
          <a:xfrm>
            <a:off x="5257800" y="3246120"/>
            <a:ext cx="34290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440680" y="3319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Regra 3 · Ação automática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40680" y="3648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ao vender → baixar Produto.estoque</a:t>
            </a:r>
            <a:endParaRPr lang="en-US" sz="1300" dirty="0"/>
          </a:p>
        </p:txBody>
      </p:sp>
      <p:sp>
        <p:nvSpPr>
          <p:cNvPr id="26" name="aprovada-3-circulo"/>
          <p:cNvSpPr/>
          <p:nvPr/>
        </p:nvSpPr>
        <p:spPr>
          <a:xfrm>
            <a:off x="8302752" y="33375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aprovada-3" descr="aprovad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401568"/>
            <a:ext cx="128016" cy="1280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Cada regra só entra depois que o usuário aprova o exemplo.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Entidades, relacionamentos e modelos</a:t>
            </a:r>
            <a:endParaRPr lang="en-US" sz="3400" dirty="0"/>
          </a:p>
        </p:txBody>
      </p:sp>
      <p:sp>
        <p:nvSpPr>
          <p:cNvPr id="3" name="entidade-cliente"/>
          <p:cNvSpPr/>
          <p:nvPr/>
        </p:nvSpPr>
        <p:spPr>
          <a:xfrm>
            <a:off x="457200" y="118872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cabecalho-cliente"/>
          <p:cNvSpPr/>
          <p:nvPr/>
        </p:nvSpPr>
        <p:spPr>
          <a:xfrm>
            <a:off x="457200" y="1188720"/>
            <a:ext cx="169164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Cliente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0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telefone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limite_fiado</a:t>
            </a:r>
            <a:endParaRPr lang="en-US" sz="1100" dirty="0"/>
          </a:p>
        </p:txBody>
      </p:sp>
      <p:sp>
        <p:nvSpPr>
          <p:cNvPr id="7" name="entidade-venda"/>
          <p:cNvSpPr/>
          <p:nvPr/>
        </p:nvSpPr>
        <p:spPr>
          <a:xfrm>
            <a:off x="2606040" y="118872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cabecalho-venda"/>
          <p:cNvSpPr/>
          <p:nvPr/>
        </p:nvSpPr>
        <p:spPr>
          <a:xfrm>
            <a:off x="2606040" y="1188720"/>
            <a:ext cx="169164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Venda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600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forma_pagto</a:t>
            </a:r>
            <a:endParaRPr lang="en-US" sz="1100" dirty="0"/>
          </a:p>
        </p:txBody>
      </p:sp>
      <p:sp>
        <p:nvSpPr>
          <p:cNvPr id="11" name="entidade-item"/>
          <p:cNvSpPr/>
          <p:nvPr/>
        </p:nvSpPr>
        <p:spPr>
          <a:xfrm>
            <a:off x="4754880" y="118872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cabecalho-item"/>
          <p:cNvSpPr/>
          <p:nvPr/>
        </p:nvSpPr>
        <p:spPr>
          <a:xfrm>
            <a:off x="4754880" y="1188720"/>
            <a:ext cx="169164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ItemVenda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00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preço</a:t>
            </a:r>
            <a:endParaRPr lang="en-US" sz="1100" dirty="0"/>
          </a:p>
        </p:txBody>
      </p:sp>
      <p:sp>
        <p:nvSpPr>
          <p:cNvPr id="15" name="entidade-produto"/>
          <p:cNvSpPr/>
          <p:nvPr/>
        </p:nvSpPr>
        <p:spPr>
          <a:xfrm>
            <a:off x="6903720" y="118872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cabecalho-produto"/>
          <p:cNvSpPr/>
          <p:nvPr/>
        </p:nvSpPr>
        <p:spPr>
          <a:xfrm>
            <a:off x="6903720" y="1188720"/>
            <a:ext cx="169164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Produto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1600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preço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estoque</a:t>
            </a:r>
            <a:endParaRPr lang="en-US" sz="1100" dirty="0"/>
          </a:p>
        </p:txBody>
      </p:sp>
      <p:sp>
        <p:nvSpPr>
          <p:cNvPr id="19" name="entidade-fornecedor"/>
          <p:cNvSpPr/>
          <p:nvPr/>
        </p:nvSpPr>
        <p:spPr>
          <a:xfrm>
            <a:off x="6903720" y="301752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cabecalho-fornecedor"/>
          <p:cNvSpPr/>
          <p:nvPr/>
        </p:nvSpPr>
        <p:spPr>
          <a:xfrm>
            <a:off x="6903720" y="3017520"/>
            <a:ext cx="169164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3017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Fornecedor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4290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contato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1737360"/>
            <a:ext cx="457200" cy="0"/>
          </a:xfrm>
          <a:prstGeom prst="line">
            <a:avLst/>
          </a:prstGeom>
          <a:noFill/>
          <a:ln w="19050">
            <a:solidFill>
              <a:srgbClr val="4B5D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0312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 : 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1737360"/>
            <a:ext cx="457200" cy="0"/>
          </a:xfrm>
          <a:prstGeom prst="line">
            <a:avLst/>
          </a:prstGeom>
          <a:noFill/>
          <a:ln w="19050">
            <a:solidFill>
              <a:srgbClr val="4B5D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 : 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1737360"/>
            <a:ext cx="457200" cy="0"/>
          </a:xfrm>
          <a:prstGeom prst="line">
            <a:avLst/>
          </a:prstGeom>
          <a:noFill/>
          <a:ln w="19050">
            <a:solidFill>
              <a:srgbClr val="4B5D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 : 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49540" y="2286000"/>
            <a:ext cx="0" cy="731520"/>
          </a:xfrm>
          <a:prstGeom prst="line">
            <a:avLst/>
          </a:prstGeom>
          <a:noFill/>
          <a:ln w="19050">
            <a:solidFill>
              <a:srgbClr val="4B5D7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2542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 : 1</a:t>
            </a:r>
            <a:endParaRPr lang="en-US" sz="1100" dirty="0"/>
          </a:p>
        </p:txBody>
      </p:sp>
      <p:sp>
        <p:nvSpPr>
          <p:cNvPr id="31" name="motor"/>
          <p:cNvSpPr/>
          <p:nvPr/>
        </p:nvSpPr>
        <p:spPr>
          <a:xfrm>
            <a:off x="457200" y="3017520"/>
            <a:ext cx="61722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32" name="engrenagens-circulo"/>
          <p:cNvSpPr/>
          <p:nvPr/>
        </p:nvSpPr>
        <p:spPr>
          <a:xfrm>
            <a:off x="658368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engrenagens" descr="engrenag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383280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554480" y="3017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 motor de geração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transforma o diagrama aprovado em banco SQLite, validações, regras em código e testes automáticos, sempre do mesmo jeito.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Diagrama ilustrativo do cenário da padaria.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Documentação e layout final</a:t>
            </a:r>
            <a:endParaRPr lang="en-US" sz="3400" dirty="0"/>
          </a:p>
        </p:txBody>
      </p:sp>
      <p:sp>
        <p:nvSpPr>
          <p:cNvPr id="3" name="janela"/>
          <p:cNvSpPr/>
          <p:nvPr/>
        </p:nvSpPr>
        <p:spPr>
          <a:xfrm>
            <a:off x="457200" y="1097280"/>
            <a:ext cx="51206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barra-janela"/>
          <p:cNvSpPr/>
          <p:nvPr/>
        </p:nvSpPr>
        <p:spPr>
          <a:xfrm>
            <a:off x="457200" y="1097280"/>
            <a:ext cx="512064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Padaria da Ana · Controle</a:t>
            </a:r>
            <a:endParaRPr lang="en-US" sz="1200" dirty="0"/>
          </a:p>
        </p:txBody>
      </p:sp>
      <p:sp>
        <p:nvSpPr>
          <p:cNvPr id="6" name="menu-lateral"/>
          <p:cNvSpPr/>
          <p:nvPr/>
        </p:nvSpPr>
        <p:spPr>
          <a:xfrm>
            <a:off x="457200" y="1444752"/>
            <a:ext cx="1188720" cy="277977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Painel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84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Vendas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68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Produtos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52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Clientes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36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Encomendas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Relatórios</a:t>
            </a:r>
            <a:endParaRPr lang="en-US" sz="1100" dirty="0"/>
          </a:p>
        </p:txBody>
      </p:sp>
      <p:sp>
        <p:nvSpPr>
          <p:cNvPr id="13" name="indicador-1"/>
          <p:cNvSpPr/>
          <p:nvPr/>
        </p:nvSpPr>
        <p:spPr>
          <a:xfrm>
            <a:off x="1810512" y="1600200"/>
            <a:ext cx="113385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901952" y="16459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R$ 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Vendas do dia</a:t>
            </a:r>
            <a:endParaRPr lang="en-US" sz="1000" dirty="0"/>
          </a:p>
        </p:txBody>
      </p:sp>
      <p:sp>
        <p:nvSpPr>
          <p:cNvPr id="16" name="indicador-2"/>
          <p:cNvSpPr/>
          <p:nvPr/>
        </p:nvSpPr>
        <p:spPr>
          <a:xfrm>
            <a:off x="3054096" y="1600200"/>
            <a:ext cx="113385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45536" y="16459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—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145536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Produtos acabando</a:t>
            </a:r>
            <a:endParaRPr lang="en-US" sz="1000" dirty="0"/>
          </a:p>
        </p:txBody>
      </p:sp>
      <p:sp>
        <p:nvSpPr>
          <p:cNvPr id="19" name="indicador-3"/>
          <p:cNvSpPr/>
          <p:nvPr/>
        </p:nvSpPr>
        <p:spPr>
          <a:xfrm>
            <a:off x="4297680" y="1600200"/>
            <a:ext cx="113385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0" y="16459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R$ —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Fiado em aberto</a:t>
            </a:r>
            <a:endParaRPr lang="en-US" sz="1000" dirty="0"/>
          </a:p>
        </p:txBody>
      </p:sp>
      <p:sp>
        <p:nvSpPr>
          <p:cNvPr id="22" name="linha-tabela-1"/>
          <p:cNvSpPr/>
          <p:nvPr/>
        </p:nvSpPr>
        <p:spPr>
          <a:xfrm>
            <a:off x="1810512" y="2651760"/>
            <a:ext cx="3621024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3" name="texto-falso-1"/>
          <p:cNvSpPr/>
          <p:nvPr/>
        </p:nvSpPr>
        <p:spPr>
          <a:xfrm>
            <a:off x="1920240" y="2743200"/>
            <a:ext cx="1280160" cy="91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4" name="linha-tabela-2"/>
          <p:cNvSpPr/>
          <p:nvPr/>
        </p:nvSpPr>
        <p:spPr>
          <a:xfrm>
            <a:off x="1810512" y="3017520"/>
            <a:ext cx="3621024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5" name="texto-falso-2"/>
          <p:cNvSpPr/>
          <p:nvPr/>
        </p:nvSpPr>
        <p:spPr>
          <a:xfrm>
            <a:off x="1920240" y="3108960"/>
            <a:ext cx="1143000" cy="91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6" name="linha-tabela-3"/>
          <p:cNvSpPr/>
          <p:nvPr/>
        </p:nvSpPr>
        <p:spPr>
          <a:xfrm>
            <a:off x="1810512" y="3383280"/>
            <a:ext cx="3621024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7" name="texto-falso-3"/>
          <p:cNvSpPr/>
          <p:nvPr/>
        </p:nvSpPr>
        <p:spPr>
          <a:xfrm>
            <a:off x="1920240" y="3474720"/>
            <a:ext cx="1005840" cy="91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8" name="linha-tabela-4"/>
          <p:cNvSpPr/>
          <p:nvPr/>
        </p:nvSpPr>
        <p:spPr>
          <a:xfrm>
            <a:off x="1810512" y="3749040"/>
            <a:ext cx="3621024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9" name="texto-falso-4"/>
          <p:cNvSpPr/>
          <p:nvPr/>
        </p:nvSpPr>
        <p:spPr>
          <a:xfrm>
            <a:off x="1920240" y="3840480"/>
            <a:ext cx="868680" cy="91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Ilustração do layout gerado pelo motor a partir do mapa (sem dados).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Documentação gerada</a:t>
            </a:r>
            <a:endParaRPr lang="en-US" sz="1600" dirty="0"/>
          </a:p>
        </p:txBody>
      </p:sp>
      <p:sp>
        <p:nvSpPr>
          <p:cNvPr id="32" name="doc-1-circulo"/>
          <p:cNvSpPr/>
          <p:nvPr/>
        </p:nvSpPr>
        <p:spPr>
          <a:xfrm>
            <a:off x="5852160" y="157276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doc-1" descr="doc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9028" y="1659636"/>
            <a:ext cx="173736" cy="173736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327648" y="1572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Manual em linguagem simples</a:t>
            </a:r>
            <a:endParaRPr lang="en-US" sz="1300" dirty="0"/>
          </a:p>
        </p:txBody>
      </p:sp>
      <p:sp>
        <p:nvSpPr>
          <p:cNvPr id="35" name="doc-2-circulo"/>
          <p:cNvSpPr/>
          <p:nvPr/>
        </p:nvSpPr>
        <p:spPr>
          <a:xfrm>
            <a:off x="5852160" y="202996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doc-2" descr="doc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116836"/>
            <a:ext cx="173736" cy="17373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6327648" y="2029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Dicionário de dados</a:t>
            </a:r>
            <a:endParaRPr lang="en-US" sz="1300" dirty="0"/>
          </a:p>
        </p:txBody>
      </p:sp>
      <p:sp>
        <p:nvSpPr>
          <p:cNvPr id="38" name="doc-3-circulo"/>
          <p:cNvSpPr/>
          <p:nvPr/>
        </p:nvSpPr>
        <p:spPr>
          <a:xfrm>
            <a:off x="5852160" y="248716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doc-3" descr="doc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574036"/>
            <a:ext cx="173736" cy="173736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327648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Regras explicadas</a:t>
            </a:r>
            <a:endParaRPr lang="en-US" sz="1300" dirty="0"/>
          </a:p>
        </p:txBody>
      </p:sp>
      <p:sp>
        <p:nvSpPr>
          <p:cNvPr id="41" name="doc-4-circulo"/>
          <p:cNvSpPr/>
          <p:nvPr/>
        </p:nvSpPr>
        <p:spPr>
          <a:xfrm>
            <a:off x="5852160" y="294436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2" name="doc-4" descr="doc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031236"/>
            <a:ext cx="173736" cy="173736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6327648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Diagrama de dados</a:t>
            </a:r>
            <a:endParaRPr lang="en-US" sz="1300" dirty="0"/>
          </a:p>
        </p:txBody>
      </p:sp>
      <p:sp>
        <p:nvSpPr>
          <p:cNvPr id="44" name="doc-5-circulo"/>
          <p:cNvSpPr/>
          <p:nvPr/>
        </p:nvSpPr>
        <p:spPr>
          <a:xfrm>
            <a:off x="5852160" y="340156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5" name="doc-5" descr="doc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3488436"/>
            <a:ext cx="173736" cy="173736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6327648" y="3401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Guia de backup</a:t>
            </a:r>
            <a:endParaRPr lang="en-US" sz="1300" dirty="0"/>
          </a:p>
        </p:txBody>
      </p:sp>
      <p:sp>
        <p:nvSpPr>
          <p:cNvPr id="47" name="voce-escolhe"/>
          <p:cNvSpPr/>
          <p:nvPr/>
        </p:nvSpPr>
        <p:spPr>
          <a:xfrm>
            <a:off x="5852160" y="3913632"/>
            <a:ext cx="283464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5989320" y="3913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Você escolhe estilo, cores, logo e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IA entende, o motor garante</a:t>
            </a:r>
            <a:endParaRPr lang="en-US" sz="3400" dirty="0"/>
          </a:p>
        </p:txBody>
      </p:sp>
      <p:sp>
        <p:nvSpPr>
          <p:cNvPr id="3" name="bloco-1"/>
          <p:cNvSpPr/>
          <p:nvPr/>
        </p:nvSpPr>
        <p:spPr>
          <a:xfrm>
            <a:off x="457200" y="114300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pic>
        <p:nvPicPr>
          <p:cNvPr id="4" name="icone-bloco-1" descr="icone-bloc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18105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Conversa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901952" y="1755648"/>
            <a:ext cx="237744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7" name="bloco-2"/>
          <p:cNvSpPr/>
          <p:nvPr/>
        </p:nvSpPr>
        <p:spPr>
          <a:xfrm>
            <a:off x="2157984" y="114300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pic>
        <p:nvPicPr>
          <p:cNvPr id="8" name="icone-bloco-2" descr="icone-bloc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280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03704" y="18105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IA local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02736" y="1755648"/>
            <a:ext cx="237744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1" name="bloco-3"/>
          <p:cNvSpPr/>
          <p:nvPr/>
        </p:nvSpPr>
        <p:spPr>
          <a:xfrm>
            <a:off x="3858768" y="114300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pic>
        <p:nvPicPr>
          <p:cNvPr id="12" name="icone-bloco-3" descr="icone-bloc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80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04488" y="18105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Mapa do sistema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303520" y="1755648"/>
            <a:ext cx="237744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5" name="bloco-4"/>
          <p:cNvSpPr/>
          <p:nvPr/>
        </p:nvSpPr>
        <p:spPr>
          <a:xfrm>
            <a:off x="5559552" y="114300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pic>
        <p:nvPicPr>
          <p:cNvPr id="16" name="icone-bloco-4" descr="icone-bloco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2801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05272" y="18105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Motor de geração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004304" y="1755648"/>
            <a:ext cx="237744" cy="0"/>
          </a:xfrm>
          <a:prstGeom prst="line">
            <a:avLst/>
          </a:prstGeom>
          <a:noFill/>
          <a:ln w="22225">
            <a:solidFill>
              <a:srgbClr val="9AA5B8"/>
            </a:solidFill>
            <a:prstDash val="solid"/>
            <a:tailEnd type="triangle"/>
          </a:ln>
        </p:spPr>
      </p:sp>
      <p:sp>
        <p:nvSpPr>
          <p:cNvPr id="19" name="bloco-5"/>
          <p:cNvSpPr/>
          <p:nvPr/>
        </p:nvSpPr>
        <p:spPr>
          <a:xfrm>
            <a:off x="7260336" y="114300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pic>
        <p:nvPicPr>
          <p:cNvPr id="20" name="icone-bloco-5" descr="icone-bloco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2801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06056" y="18105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Sistema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3767328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revisado e aprovado por você</a:t>
            </a:r>
            <a:endParaRPr lang="en-US" sz="1100" dirty="0"/>
          </a:p>
        </p:txBody>
      </p:sp>
      <p:sp>
        <p:nvSpPr>
          <p:cNvPr id="23" name="motivo-1-circulo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motivo-1" descr="motivo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" y="300609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97280" y="2898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Confiável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457200" y="3474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 mesmo mapa gera sempre o mesmo sistema. Quem não programa não precisa corrigir código.</a:t>
            </a:r>
            <a:endParaRPr lang="en-US" sz="1300" dirty="0"/>
          </a:p>
        </p:txBody>
      </p:sp>
      <p:sp>
        <p:nvSpPr>
          <p:cNvPr id="27" name="motivo-2-circulo"/>
          <p:cNvSpPr/>
          <p:nvPr/>
        </p:nvSpPr>
        <p:spPr>
          <a:xfrm>
            <a:off x="326898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motivo-2" descr="motivo-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4710" y="3006090"/>
            <a:ext cx="251460" cy="25146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909060" y="2898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Leve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3268980" y="3474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 sistema gerado não depende de IA nem de internet.</a:t>
            </a:r>
            <a:endParaRPr lang="en-US" sz="1300" dirty="0"/>
          </a:p>
        </p:txBody>
      </p:sp>
      <p:sp>
        <p:nvSpPr>
          <p:cNvPr id="31" name="motivo-3-circulo"/>
          <p:cNvSpPr/>
          <p:nvPr/>
        </p:nvSpPr>
        <p:spPr>
          <a:xfrm>
            <a:off x="608076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motivo-3" descr="motivo-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490" y="3006090"/>
            <a:ext cx="251460" cy="25146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20840" y="2898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Mensurável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6080760" y="3474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Separa erro de entendimento (IA) de erro de geração (motor).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mapa do sistema é o contrato</a:t>
            </a:r>
            <a:endParaRPr lang="en-US" sz="3400" dirty="0"/>
          </a:p>
        </p:txBody>
      </p:sp>
      <p:sp>
        <p:nvSpPr>
          <p:cNvPr id="3" name="codigo"/>
          <p:cNvSpPr/>
          <p:nvPr/>
        </p:nvSpPr>
        <p:spPr>
          <a:xfrm>
            <a:off x="457200" y="1097280"/>
            <a:ext cx="4480560" cy="329184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Uma regra no mapa: contrato v0.2 (JSON Schema)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"r_estoque_suficiente",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"tipo": "restricao",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"entidade": "venda",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"transicoes": ["concluir"],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"para_cada": "itens",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"condicao":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"comparar": "&lt;=",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"esq": { "campo": "quantidade"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"dir": { "campo": "produto.estoque"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"mensagem": "Estoque insuficiente." 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Fonte única da verdade: dele saem</a:t>
            </a:r>
            <a:endParaRPr lang="en-US" sz="1500" dirty="0"/>
          </a:p>
        </p:txBody>
      </p:sp>
      <p:sp>
        <p:nvSpPr>
          <p:cNvPr id="7" name="deriva-1-circulo"/>
          <p:cNvSpPr/>
          <p:nvPr/>
        </p:nvSpPr>
        <p:spPr>
          <a:xfrm>
            <a:off x="5212080" y="157276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deriva-1" descr="deriv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1645920"/>
            <a:ext cx="146304" cy="1463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23560" y="1572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Banco de dados</a:t>
            </a:r>
            <a:endParaRPr lang="en-US" sz="1300" dirty="0"/>
          </a:p>
        </p:txBody>
      </p:sp>
      <p:sp>
        <p:nvSpPr>
          <p:cNvPr id="10" name="deriva-2-circulo"/>
          <p:cNvSpPr/>
          <p:nvPr/>
        </p:nvSpPr>
        <p:spPr>
          <a:xfrm>
            <a:off x="5212080" y="193852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deriva-2" descr="deriv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011680"/>
            <a:ext cx="146304" cy="1463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Regras em código</a:t>
            </a:r>
            <a:endParaRPr lang="en-US" sz="1300" dirty="0"/>
          </a:p>
        </p:txBody>
      </p:sp>
      <p:sp>
        <p:nvSpPr>
          <p:cNvPr id="13" name="deriva-3-circulo"/>
          <p:cNvSpPr/>
          <p:nvPr/>
        </p:nvSpPr>
        <p:spPr>
          <a:xfrm>
            <a:off x="5212080" y="230428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deriva-3" descr="deriv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37744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23560" y="2304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Telas e painel</a:t>
            </a:r>
            <a:endParaRPr lang="en-US" sz="1300" dirty="0"/>
          </a:p>
        </p:txBody>
      </p:sp>
      <p:sp>
        <p:nvSpPr>
          <p:cNvPr id="16" name="deriva-4-circulo"/>
          <p:cNvSpPr/>
          <p:nvPr/>
        </p:nvSpPr>
        <p:spPr>
          <a:xfrm>
            <a:off x="5212080" y="267004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deriva-4" descr="deriva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743200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2670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Perfis e permissões</a:t>
            </a:r>
            <a:endParaRPr lang="en-US" sz="1300" dirty="0"/>
          </a:p>
        </p:txBody>
      </p:sp>
      <p:sp>
        <p:nvSpPr>
          <p:cNvPr id="19" name="deriva-5-circulo"/>
          <p:cNvSpPr/>
          <p:nvPr/>
        </p:nvSpPr>
        <p:spPr>
          <a:xfrm>
            <a:off x="5212080" y="303580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deriva-5" descr="deriva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3108960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23560" y="3035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Documentação</a:t>
            </a:r>
            <a:endParaRPr lang="en-US" sz="1300" dirty="0"/>
          </a:p>
        </p:txBody>
      </p:sp>
      <p:sp>
        <p:nvSpPr>
          <p:cNvPr id="22" name="deriva-6-circulo"/>
          <p:cNvSpPr/>
          <p:nvPr/>
        </p:nvSpPr>
        <p:spPr>
          <a:xfrm>
            <a:off x="5212080" y="340156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deriva-6" descr="deriva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3474720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623560" y="3401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Testes de aceitação</a:t>
            </a:r>
            <a:endParaRPr lang="en-US" sz="1300" dirty="0"/>
          </a:p>
        </p:txBody>
      </p:sp>
      <p:sp>
        <p:nvSpPr>
          <p:cNvPr id="25" name="validado"/>
          <p:cNvSpPr/>
          <p:nvPr/>
        </p:nvSpPr>
        <p:spPr>
          <a:xfrm>
            <a:off x="5212080" y="3840480"/>
            <a:ext cx="347472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349240" y="3840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Testado: a padaria passa e 21 mapas com erro de forma são recusados.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Roda no computador da loja</a:t>
            </a:r>
            <a:endParaRPr lang="en-US" sz="3400" dirty="0"/>
          </a:p>
        </p:txBody>
      </p:sp>
      <p:sp>
        <p:nvSpPr>
          <p:cNvPr id="3" name="sistema-gerado"/>
          <p:cNvSpPr/>
          <p:nvPr/>
        </p:nvSpPr>
        <p:spPr>
          <a:xfrm>
            <a:off x="457200" y="109728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pc-circulo"/>
          <p:cNvSpPr/>
          <p:nvPr/>
        </p:nvSpPr>
        <p:spPr>
          <a:xfrm>
            <a:off x="658368" y="12801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pc" descr="p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98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Sistema gerado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Qualquer PC comum com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Sem internet e sem 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Banco local com backup automático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Exporta para planilha</a:t>
            </a:r>
            <a:endParaRPr lang="en-US" sz="1400" dirty="0"/>
          </a:p>
        </p:txBody>
      </p:sp>
      <p:sp>
        <p:nvSpPr>
          <p:cNvPr id="8" name="forja-req"/>
          <p:cNvSpPr/>
          <p:nvPr/>
        </p:nvSpPr>
        <p:spPr>
          <a:xfrm>
            <a:off x="4663440" y="109728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9" name="forja-circulo"/>
          <p:cNvSpPr/>
          <p:nvPr/>
        </p:nvSpPr>
        <p:spPr>
          <a:xfrm>
            <a:off x="4864608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orja" descr="forj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98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Forja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Modo guiado (sem IA):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qualquer PC comum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560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Modo com IA local: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requisito mínimo medido no piloto (meta: PC com 16 GB de RAM, sem placa de vídeo obrigatória)</a:t>
            </a:r>
            <a:endParaRPr lang="en-US" sz="1400" dirty="0"/>
          </a:p>
        </p:txBody>
      </p:sp>
      <p:sp>
        <p:nvSpPr>
          <p:cNvPr id="14" name="custo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580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R$ 0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1920240" y="37947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Ollama, modelo aberto, Python e SQLite: sem assinatura, sem chave de API, e nenhum dado sai da máquina.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Prova offline antes de tudo</a:t>
            </a:r>
            <a:endParaRPr lang="en-US" sz="3400" dirty="0"/>
          </a:p>
        </p:txBody>
      </p:sp>
      <p:sp>
        <p:nvSpPr>
          <p:cNvPr id="3" name="prova-1"/>
          <p:cNvSpPr/>
          <p:nvPr/>
        </p:nvSpPr>
        <p:spPr>
          <a:xfrm>
            <a:off x="45720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prova-num-1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Gerar sem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Sistema da padaria a partir do mapa</a:t>
            </a:r>
            <a:endParaRPr lang="en-US" sz="1200" dirty="0"/>
          </a:p>
        </p:txBody>
      </p:sp>
      <p:sp>
        <p:nvSpPr>
          <p:cNvPr id="8" name="prova-2"/>
          <p:cNvSpPr/>
          <p:nvPr/>
        </p:nvSpPr>
        <p:spPr>
          <a:xfrm>
            <a:off x="256032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prova-num-2"/>
          <p:cNvSpPr/>
          <p:nvPr/>
        </p:nvSpPr>
        <p:spPr>
          <a:xfrm>
            <a:off x="269748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Empacotar tudo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Runtime, banco e arquivos, sem CDN</a:t>
            </a:r>
            <a:endParaRPr lang="en-US" sz="1200" dirty="0"/>
          </a:p>
        </p:txBody>
      </p:sp>
      <p:sp>
        <p:nvSpPr>
          <p:cNvPr id="13" name="prova-3"/>
          <p:cNvSpPr/>
          <p:nvPr/>
        </p:nvSpPr>
        <p:spPr>
          <a:xfrm>
            <a:off x="466344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prova-num-3"/>
          <p:cNvSpPr/>
          <p:nvPr/>
        </p:nvSpPr>
        <p:spPr>
          <a:xfrm>
            <a:off x="480060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Máquina limpa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Windows Sandbox ou outro PC, sem rede</a:t>
            </a:r>
            <a:endParaRPr lang="en-US" sz="1200" dirty="0"/>
          </a:p>
        </p:txBody>
      </p:sp>
      <p:sp>
        <p:nvSpPr>
          <p:cNvPr id="18" name="prova-4"/>
          <p:cNvSpPr/>
          <p:nvPr/>
        </p:nvSpPr>
        <p:spPr>
          <a:xfrm>
            <a:off x="6766560" y="10972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prova-num-4"/>
          <p:cNvSpPr/>
          <p:nvPr/>
        </p:nvSpPr>
        <p:spPr>
          <a:xfrm>
            <a:off x="690372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Checklist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Cada item registrado: OK ou falhou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Checklist de aceite</a:t>
            </a:r>
            <a:endParaRPr lang="en-US" sz="1400" dirty="0"/>
          </a:p>
        </p:txBody>
      </p:sp>
      <p:pic>
        <p:nvPicPr>
          <p:cNvPr id="24" name="caixa-1" descr="caix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45536"/>
            <a:ext cx="182880" cy="1828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3152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Abrir sem instalar Python</a:t>
            </a:r>
            <a:endParaRPr lang="en-US" sz="1200" dirty="0"/>
          </a:p>
        </p:txBody>
      </p:sp>
      <p:pic>
        <p:nvPicPr>
          <p:cNvPr id="26" name="caixa-2" descr="caix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145536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352044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Cadastrar e editar</a:t>
            </a:r>
            <a:endParaRPr lang="en-US" sz="1200" dirty="0"/>
          </a:p>
        </p:txBody>
      </p:sp>
      <p:pic>
        <p:nvPicPr>
          <p:cNvPr id="28" name="caixa-3" descr="caix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45536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30936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Excluir com bloqueio</a:t>
            </a:r>
            <a:endParaRPr lang="en-US" sz="1200" dirty="0"/>
          </a:p>
        </p:txBody>
      </p:sp>
      <p:pic>
        <p:nvPicPr>
          <p:cNvPr id="30" name="caixa-4" descr="caixa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47288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31520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Venda com itens</a:t>
            </a:r>
            <a:endParaRPr lang="en-US" sz="1200" dirty="0"/>
          </a:p>
        </p:txBody>
      </p:sp>
      <p:pic>
        <p:nvPicPr>
          <p:cNvPr id="32" name="caixa-5" descr="caixa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447288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520440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Regra de estoque</a:t>
            </a:r>
            <a:endParaRPr lang="en-US" sz="1200" dirty="0"/>
          </a:p>
        </p:txBody>
      </p:sp>
      <p:pic>
        <p:nvPicPr>
          <p:cNvPr id="34" name="caixa-6" descr="caixa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447288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309360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Regra de fiado</a:t>
            </a:r>
            <a:endParaRPr lang="en-US" sz="1200" dirty="0"/>
          </a:p>
        </p:txBody>
      </p:sp>
      <p:pic>
        <p:nvPicPr>
          <p:cNvPr id="36" name="caixa-7" descr="caixa-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49040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31520" y="3712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Cálculos e ações</a:t>
            </a:r>
            <a:endParaRPr lang="en-US" sz="1200" dirty="0"/>
          </a:p>
        </p:txBody>
      </p:sp>
      <p:pic>
        <p:nvPicPr>
          <p:cNvPr id="38" name="caixa-8" descr="caixa-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749040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520440" y="3712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Painel e relatório</a:t>
            </a:r>
            <a:endParaRPr lang="en-US" sz="1200" dirty="0"/>
          </a:p>
        </p:txBody>
      </p:sp>
      <p:pic>
        <p:nvPicPr>
          <p:cNvPr id="40" name="caixa-9" descr="caixa-9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749040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309360" y="3712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Permissões por perfil</a:t>
            </a:r>
            <a:endParaRPr lang="en-US" sz="1200" dirty="0"/>
          </a:p>
        </p:txBody>
      </p:sp>
      <p:pic>
        <p:nvPicPr>
          <p:cNvPr id="42" name="caixa-10" descr="caixa-1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050792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31520" y="4014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Backup e restauração</a:t>
            </a:r>
            <a:endParaRPr lang="en-US" sz="1200" dirty="0"/>
          </a:p>
        </p:txBody>
      </p:sp>
      <p:pic>
        <p:nvPicPr>
          <p:cNvPr id="44" name="caixa-11" descr="caixa-1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6120" y="4050792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3520440" y="4014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Exportar planilha</a:t>
            </a:r>
            <a:endParaRPr lang="en-US" sz="1200" dirty="0"/>
          </a:p>
        </p:txBody>
      </p:sp>
      <p:pic>
        <p:nvPicPr>
          <p:cNvPr id="46" name="caixa-12" descr="caixa-12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040" y="4050792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309360" y="4014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Dados após reiniciar</a:t>
            </a:r>
            <a:endParaRPr lang="en-US" sz="1200" dirty="0"/>
          </a:p>
        </p:txBody>
      </p:sp>
      <p:sp>
        <p:nvSpPr>
          <p:cNvPr id="48" name="Text 34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Portão G1: se falhar, a arquitetura de execução é revista antes de construir a parte com 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Você personaliza tudo</a:t>
            </a:r>
            <a:endParaRPr lang="en-US" sz="3400" dirty="0"/>
          </a:p>
        </p:txBody>
      </p:sp>
      <p:sp>
        <p:nvSpPr>
          <p:cNvPr id="3" name="modulos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Módulos do seu negócio</a:t>
            </a:r>
            <a:endParaRPr lang="en-US" sz="1600" dirty="0"/>
          </a:p>
        </p:txBody>
      </p:sp>
      <p:sp>
        <p:nvSpPr>
          <p:cNvPr id="5" name="chave-mod-1"/>
          <p:cNvSpPr/>
          <p:nvPr/>
        </p:nvSpPr>
        <p:spPr>
          <a:xfrm>
            <a:off x="685800" y="1773936"/>
            <a:ext cx="45720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botao-mod-1"/>
          <p:cNvSpPr/>
          <p:nvPr/>
        </p:nvSpPr>
        <p:spPr>
          <a:xfrm>
            <a:off x="914400" y="1792224"/>
            <a:ext cx="210312" cy="21031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Estoque</a:t>
            </a:r>
            <a:endParaRPr lang="en-US" sz="1400" dirty="0"/>
          </a:p>
        </p:txBody>
      </p:sp>
      <p:sp>
        <p:nvSpPr>
          <p:cNvPr id="8" name="chave-mod-2"/>
          <p:cNvSpPr/>
          <p:nvPr/>
        </p:nvSpPr>
        <p:spPr>
          <a:xfrm>
            <a:off x="685800" y="2203704"/>
            <a:ext cx="45720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botao-mod-2"/>
          <p:cNvSpPr/>
          <p:nvPr/>
        </p:nvSpPr>
        <p:spPr>
          <a:xfrm>
            <a:off x="914400" y="2221992"/>
            <a:ext cx="210312" cy="21031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Vendas</a:t>
            </a:r>
            <a:endParaRPr lang="en-US" sz="1400" dirty="0"/>
          </a:p>
        </p:txBody>
      </p:sp>
      <p:sp>
        <p:nvSpPr>
          <p:cNvPr id="11" name="chave-mod-3"/>
          <p:cNvSpPr/>
          <p:nvPr/>
        </p:nvSpPr>
        <p:spPr>
          <a:xfrm>
            <a:off x="685800" y="2633472"/>
            <a:ext cx="45720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botao-mod-3"/>
          <p:cNvSpPr/>
          <p:nvPr/>
        </p:nvSpPr>
        <p:spPr>
          <a:xfrm>
            <a:off x="914400" y="2651760"/>
            <a:ext cx="210312" cy="21031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2596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Clientes e fiado</a:t>
            </a:r>
            <a:endParaRPr lang="en-US" sz="1400" dirty="0"/>
          </a:p>
        </p:txBody>
      </p:sp>
      <p:sp>
        <p:nvSpPr>
          <p:cNvPr id="14" name="chave-mod-4"/>
          <p:cNvSpPr/>
          <p:nvPr/>
        </p:nvSpPr>
        <p:spPr>
          <a:xfrm>
            <a:off x="685800" y="3063240"/>
            <a:ext cx="45720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botao-mod-4"/>
          <p:cNvSpPr/>
          <p:nvPr/>
        </p:nvSpPr>
        <p:spPr>
          <a:xfrm>
            <a:off x="914400" y="3081528"/>
            <a:ext cx="210312" cy="21031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Encomendas e agenda</a:t>
            </a:r>
            <a:endParaRPr lang="en-US" sz="1400" dirty="0"/>
          </a:p>
        </p:txBody>
      </p:sp>
      <p:sp>
        <p:nvSpPr>
          <p:cNvPr id="17" name="chave-mod-5"/>
          <p:cNvSpPr/>
          <p:nvPr/>
        </p:nvSpPr>
        <p:spPr>
          <a:xfrm>
            <a:off x="685800" y="3493008"/>
            <a:ext cx="457200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8" name="botao-mod-5"/>
          <p:cNvSpPr/>
          <p:nvPr/>
        </p:nvSpPr>
        <p:spPr>
          <a:xfrm>
            <a:off x="704088" y="3511296"/>
            <a:ext cx="210312" cy="21031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3456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Contas a pagar e receber</a:t>
            </a:r>
            <a:endParaRPr lang="en-US" sz="1400" dirty="0"/>
          </a:p>
        </p:txBody>
      </p:sp>
      <p:sp>
        <p:nvSpPr>
          <p:cNvPr id="20" name="chave-mod-6"/>
          <p:cNvSpPr/>
          <p:nvPr/>
        </p:nvSpPr>
        <p:spPr>
          <a:xfrm>
            <a:off x="685800" y="3922776"/>
            <a:ext cx="457200" cy="2468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botao-mod-6"/>
          <p:cNvSpPr/>
          <p:nvPr/>
        </p:nvSpPr>
        <p:spPr>
          <a:xfrm>
            <a:off x="704088" y="3941064"/>
            <a:ext cx="210312" cy="21031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Fornecedores</a:t>
            </a:r>
            <a:endParaRPr lang="en-US" sz="1400" dirty="0"/>
          </a:p>
        </p:txBody>
      </p:sp>
      <p:sp>
        <p:nvSpPr>
          <p:cNvPr id="23" name="personaliza-1"/>
          <p:cNvSpPr/>
          <p:nvPr/>
        </p:nvSpPr>
        <p:spPr>
          <a:xfrm>
            <a:off x="4663440" y="109728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4" name="icone-personaliza-1-circulo"/>
          <p:cNvSpPr/>
          <p:nvPr/>
        </p:nvSpPr>
        <p:spPr>
          <a:xfrm>
            <a:off x="4800600" y="12252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e-personaliza-1" descr="icone-personaliz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344168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440680" y="11704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Regras do seu jeito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1463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Você define, a Forja confirma com exemplos</a:t>
            </a:r>
            <a:endParaRPr lang="en-US" sz="1200" dirty="0"/>
          </a:p>
        </p:txBody>
      </p:sp>
      <p:sp>
        <p:nvSpPr>
          <p:cNvPr id="28" name="personaliza-2"/>
          <p:cNvSpPr/>
          <p:nvPr/>
        </p:nvSpPr>
        <p:spPr>
          <a:xfrm>
            <a:off x="4663440" y="1938528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9" name="icone-personaliza-2-circulo"/>
          <p:cNvSpPr/>
          <p:nvPr/>
        </p:nvSpPr>
        <p:spPr>
          <a:xfrm>
            <a:off x="4800600" y="20665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e-personaliza-2" descr="icone-personaliz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185416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440680" y="2011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Telas do seu jeito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440680" y="23042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Estilo, cores, logo, menu e painel</a:t>
            </a:r>
            <a:endParaRPr lang="en-US" sz="1200" dirty="0"/>
          </a:p>
        </p:txBody>
      </p:sp>
      <p:sp>
        <p:nvSpPr>
          <p:cNvPr id="33" name="personaliza-3"/>
          <p:cNvSpPr/>
          <p:nvPr/>
        </p:nvSpPr>
        <p:spPr>
          <a:xfrm>
            <a:off x="4663440" y="2779776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4" name="icone-personaliza-3-circulo"/>
          <p:cNvSpPr/>
          <p:nvPr/>
        </p:nvSpPr>
        <p:spPr>
          <a:xfrm>
            <a:off x="4800600" y="290779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e-personaliza-3" descr="icone-personaliz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026664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440680" y="28529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Volte quando quiser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5440680" y="31455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Mapa versionado, com histórico e desfazer</a:t>
            </a:r>
            <a:endParaRPr lang="en-US" sz="1200" dirty="0"/>
          </a:p>
        </p:txBody>
      </p:sp>
      <p:sp>
        <p:nvSpPr>
          <p:cNvPr id="38" name="personaliza-4"/>
          <p:cNvSpPr/>
          <p:nvPr/>
        </p:nvSpPr>
        <p:spPr>
          <a:xfrm>
            <a:off x="4663440" y="3621024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9" name="icone-personaliza-4-circulo"/>
          <p:cNvSpPr/>
          <p:nvPr/>
        </p:nvSpPr>
        <p:spPr>
          <a:xfrm>
            <a:off x="4800600" y="374904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one-personaliza-4" descr="icone-personaliza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867912"/>
            <a:ext cx="237744" cy="23774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5440680" y="36941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IA ligada ou desligada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5440680" y="39867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Modo guiado para máquinas mais simples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Até onde vai a personalização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Elemento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Suportado no MVP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Fora do MVP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Campos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11 tipos: texto, número, moeda, data, opções…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Arquivos e imagens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Relacionamentos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1:N e N:N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Hierarquias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Regras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Restrição, cálculo e ação, com agregações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Regras temporais, fluxos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Telas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Painel, lista, formulário, mestre-detalhe, relatório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Telas livres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Permissões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Perfis por entidade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Por campo ou registro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Layout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 estilos, cores, logo e menu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CSS livre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a-matriz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Templates + metadados: sem código novo por negócio. Pedido fora da matriz é registrado como não suportado, e isso também é resultado.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Método: Design Science Research</a:t>
            </a:r>
            <a:endParaRPr lang="en-US" sz="3400" dirty="0"/>
          </a:p>
        </p:txBody>
      </p:sp>
      <p:sp>
        <p:nvSpPr>
          <p:cNvPr id="3" name="dsr-1"/>
          <p:cNvSpPr/>
          <p:nvPr/>
        </p:nvSpPr>
        <p:spPr>
          <a:xfrm>
            <a:off x="457200" y="1188720"/>
            <a:ext cx="1280160" cy="26517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dsr-num-1"/>
          <p:cNvSpPr/>
          <p:nvPr/>
        </p:nvSpPr>
        <p:spPr>
          <a:xfrm>
            <a:off x="850392" y="1325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06040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Necessidade dos pequenos negócios</a:t>
            </a:r>
            <a:endParaRPr lang="en-US" sz="1200" dirty="0"/>
          </a:p>
        </p:txBody>
      </p:sp>
      <p:sp>
        <p:nvSpPr>
          <p:cNvPr id="8" name="dsr-2"/>
          <p:cNvSpPr/>
          <p:nvPr/>
        </p:nvSpPr>
        <p:spPr>
          <a:xfrm>
            <a:off x="1847088" y="1188720"/>
            <a:ext cx="1280160" cy="26517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dsr-num-2"/>
          <p:cNvSpPr/>
          <p:nvPr/>
        </p:nvSpPr>
        <p:spPr>
          <a:xfrm>
            <a:off x="2240280" y="1325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4028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Objetivos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606040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Criar sistema sem programar, sem custo, local</a:t>
            </a:r>
            <a:endParaRPr lang="en-US" sz="1200" dirty="0"/>
          </a:p>
        </p:txBody>
      </p:sp>
      <p:sp>
        <p:nvSpPr>
          <p:cNvPr id="13" name="dsr-3"/>
          <p:cNvSpPr/>
          <p:nvPr/>
        </p:nvSpPr>
        <p:spPr>
          <a:xfrm>
            <a:off x="3236976" y="1188720"/>
            <a:ext cx="1280160" cy="265176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/>
        </p:spPr>
      </p:sp>
      <p:sp>
        <p:nvSpPr>
          <p:cNvPr id="14" name="dsr-num-3"/>
          <p:cNvSpPr/>
          <p:nvPr/>
        </p:nvSpPr>
        <p:spPr>
          <a:xfrm>
            <a:off x="3630168" y="132588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301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10128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Construção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2606040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Projeto da Forja: 7 etapas, mapa e motor</a:t>
            </a:r>
            <a:endParaRPr lang="en-US" sz="1200" dirty="0"/>
          </a:p>
        </p:txBody>
      </p:sp>
      <p:sp>
        <p:nvSpPr>
          <p:cNvPr id="18" name="dsr-4"/>
          <p:cNvSpPr/>
          <p:nvPr/>
        </p:nvSpPr>
        <p:spPr>
          <a:xfrm>
            <a:off x="4626864" y="1188720"/>
            <a:ext cx="1280160" cy="26517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dsr-num-4"/>
          <p:cNvSpPr/>
          <p:nvPr/>
        </p:nvSpPr>
        <p:spPr>
          <a:xfrm>
            <a:off x="5020056" y="1325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005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700016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Demonstração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00016" y="2606040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Cenários de pequenos negócios</a:t>
            </a:r>
            <a:endParaRPr lang="en-US" sz="1200" dirty="0"/>
          </a:p>
        </p:txBody>
      </p:sp>
      <p:sp>
        <p:nvSpPr>
          <p:cNvPr id="23" name="dsr-5"/>
          <p:cNvSpPr/>
          <p:nvPr/>
        </p:nvSpPr>
        <p:spPr>
          <a:xfrm>
            <a:off x="6016752" y="1188720"/>
            <a:ext cx="1280160" cy="265176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/>
        </p:spPr>
      </p:sp>
      <p:sp>
        <p:nvSpPr>
          <p:cNvPr id="24" name="dsr-num-5"/>
          <p:cNvSpPr/>
          <p:nvPr/>
        </p:nvSpPr>
        <p:spPr>
          <a:xfrm>
            <a:off x="6409944" y="132588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994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089904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Avaliação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89904" y="2606040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Técnica e com usuários</a:t>
            </a:r>
            <a:endParaRPr lang="en-US" sz="1200" dirty="0"/>
          </a:p>
        </p:txBody>
      </p:sp>
      <p:sp>
        <p:nvSpPr>
          <p:cNvPr id="28" name="dsr-6"/>
          <p:cNvSpPr/>
          <p:nvPr/>
        </p:nvSpPr>
        <p:spPr>
          <a:xfrm>
            <a:off x="7406640" y="1188720"/>
            <a:ext cx="1280160" cy="26517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9" name="dsr-num-6"/>
          <p:cNvSpPr/>
          <p:nvPr/>
        </p:nvSpPr>
        <p:spPr>
          <a:xfrm>
            <a:off x="7799832" y="1325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9983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479792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Comunicação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06040"/>
            <a:ext cx="1133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Texto do TCC e defesa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Atividades de Peffers et al. (2007); referência a confirmar na revisão bibliográfica.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Avaliação em duas frentes</a:t>
            </a:r>
            <a:endParaRPr lang="en-US" sz="3400" dirty="0"/>
          </a:p>
        </p:txBody>
      </p:sp>
      <p:sp>
        <p:nvSpPr>
          <p:cNvPr id="3" name="frente-1"/>
          <p:cNvSpPr/>
          <p:nvPr/>
        </p:nvSpPr>
        <p:spPr>
          <a:xfrm>
            <a:off x="457200" y="109728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icone-frente-1-circulo"/>
          <p:cNvSpPr/>
          <p:nvPr/>
        </p:nvSpPr>
        <p:spPr>
          <a:xfrm>
            <a:off x="685800" y="12801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frente-1" descr="icone-frente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287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98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Avaliação técnica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~10 cenários de pequenos negócios, escritos por outra pessoa e selados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Cada cenário feito com IA e no modo guiado sem 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Testes de aceitação ocultos verificam as regras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Modelo de dados comparado a um gabarito</a:t>
            </a:r>
            <a:endParaRPr lang="en-US" sz="1400" dirty="0"/>
          </a:p>
        </p:txBody>
      </p:sp>
      <p:sp>
        <p:nvSpPr>
          <p:cNvPr id="8" name="frente-2"/>
          <p:cNvSpPr/>
          <p:nvPr/>
        </p:nvSpPr>
        <p:spPr>
          <a:xfrm>
            <a:off x="4663440" y="109728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accent6"/>
          </a:solidFill>
          <a:ln/>
        </p:spPr>
      </p:sp>
      <p:sp>
        <p:nvSpPr>
          <p:cNvPr id="9" name="icone-frente-2-circulo"/>
          <p:cNvSpPr/>
          <p:nvPr/>
        </p:nvSpPr>
        <p:spPr>
          <a:xfrm>
            <a:off x="4892040" y="12801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-frente-2" descr="icone-frente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4287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298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 usuários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574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6 a 10 donos ou funcionários de pequenos negócios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Criam e usam um sistema com a Forja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Sucesso, tempo, usabilidade (SUS) e utilidade percebida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Requer consulta ao CEP: fazer já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Isolando o efeito da IA</a:t>
            </a:r>
            <a:endParaRPr lang="en-US" sz="3400" dirty="0"/>
          </a:p>
        </p:txBody>
      </p:sp>
      <p:sp>
        <p:nvSpPr>
          <p:cNvPr id="3" name="igual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Igual nos dois modos</a:t>
            </a:r>
            <a:endParaRPr lang="en-US" sz="1600" dirty="0"/>
          </a:p>
        </p:txBody>
      </p:sp>
      <p:sp>
        <p:nvSpPr>
          <p:cNvPr id="5" name="igual-1-circulo"/>
          <p:cNvSpPr/>
          <p:nvPr/>
        </p:nvSpPr>
        <p:spPr>
          <a:xfrm>
            <a:off x="685800" y="180136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gual-1" descr="igual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74520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755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Fluxo de 7 etapas e formulários</a:t>
            </a:r>
            <a:endParaRPr lang="en-US" sz="1400" dirty="0"/>
          </a:p>
        </p:txBody>
      </p:sp>
      <p:sp>
        <p:nvSpPr>
          <p:cNvPr id="8" name="igual-2-circulo"/>
          <p:cNvSpPr/>
          <p:nvPr/>
        </p:nvSpPr>
        <p:spPr>
          <a:xfrm>
            <a:off x="685800" y="230428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gual-2" descr="igual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7744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2585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Catálogo de módulos e de regras</a:t>
            </a:r>
            <a:endParaRPr lang="en-US" sz="1400" dirty="0"/>
          </a:p>
        </p:txBody>
      </p:sp>
      <p:sp>
        <p:nvSpPr>
          <p:cNvPr id="11" name="igual-3-circulo"/>
          <p:cNvSpPr/>
          <p:nvPr/>
        </p:nvSpPr>
        <p:spPr>
          <a:xfrm>
            <a:off x="685800" y="280720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gual-3" descr="igual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80360"/>
            <a:ext cx="146304" cy="1463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761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Exemplos de confirmação</a:t>
            </a:r>
            <a:endParaRPr lang="en-US" sz="1400" dirty="0"/>
          </a:p>
        </p:txBody>
      </p:sp>
      <p:sp>
        <p:nvSpPr>
          <p:cNvPr id="14" name="igual-4-circulo"/>
          <p:cNvSpPr/>
          <p:nvPr/>
        </p:nvSpPr>
        <p:spPr>
          <a:xfrm>
            <a:off x="685800" y="331012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gual-4" descr="igual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83280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2644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Motor, templates, documentação e layout</a:t>
            </a:r>
            <a:endParaRPr lang="en-US" sz="1400" dirty="0"/>
          </a:p>
        </p:txBody>
      </p:sp>
      <p:sp>
        <p:nvSpPr>
          <p:cNvPr id="17" name="igual-5-circulo"/>
          <p:cNvSpPr/>
          <p:nvPr/>
        </p:nvSpPr>
        <p:spPr>
          <a:xfrm>
            <a:off x="685800" y="381304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gual-5" descr="igual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886200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37673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Roteiro, testes ocultos e tempo-limite</a:t>
            </a:r>
            <a:endParaRPr lang="en-US" sz="1400" dirty="0"/>
          </a:p>
        </p:txBody>
      </p:sp>
      <p:sp>
        <p:nvSpPr>
          <p:cNvPr id="20" name="modo-1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</p:spPr>
      </p:sp>
      <p:sp>
        <p:nvSpPr>
          <p:cNvPr id="21" name="icone-modo-1-circulo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e-modo-1" descr="icone-modo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139446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40680" y="1207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Modo com IA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5440680" y="15361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 operador descreve o negócio; a IA propõe as mudanças no mapa; ele revisa e aprova.</a:t>
            </a:r>
            <a:endParaRPr lang="en-US" sz="1200" dirty="0"/>
          </a:p>
        </p:txBody>
      </p:sp>
      <p:sp>
        <p:nvSpPr>
          <p:cNvPr id="25" name="modo-2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6" name="icone-modo-2-circulo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cone-modo-2" descr="icone-modo-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2583180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44068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Modo guiado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5440680" y="27249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 operador preenche os mesmos formulários, sem sugestões.</a:t>
            </a:r>
            <a:endParaRPr lang="en-US" sz="1200" dirty="0"/>
          </a:p>
        </p:txBody>
      </p:sp>
      <p:sp>
        <p:nvSpPr>
          <p:cNvPr id="30" name="ordem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4846320" y="34747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Ordem contrabalanceada: metade dos cenários começa por cada modo. O tempo das etapas 1 a 3 é medido à parte.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Hipóteses e medidas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237744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Hipótese (bilateral)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Medida principal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H1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IA altera o tempo para criar o sistema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Minutos até o sistema rodar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Confirmatória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H2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IA altera a aderência às regras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% de testes ocultos aprovados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Confirmatória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H3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IA altera o retrabalho do usuário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Nº de correções por etapa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Confirmatória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H4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Quem não programa consegue criar um sistema utilizável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Sucesso, SUS, utilidade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Exploratória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a-bilateral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O resultado pode ser positivo, negativo ou nulo, e qualquer um deles é um resultado válido.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Escopo</a:t>
            </a:r>
            <a:endParaRPr lang="en-US" sz="3400" dirty="0"/>
          </a:p>
        </p:txBody>
      </p:sp>
      <p:sp>
        <p:nvSpPr>
          <p:cNvPr id="3" name="dentro"/>
          <p:cNvSpPr/>
          <p:nvPr/>
        </p:nvSpPr>
        <p:spPr>
          <a:xfrm>
            <a:off x="457200" y="109728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Dentro</a:t>
            </a:r>
            <a:endParaRPr lang="en-US" sz="1700" dirty="0"/>
          </a:p>
        </p:txBody>
      </p:sp>
      <p:sp>
        <p:nvSpPr>
          <p:cNvPr id="5" name="dentro-1-circulo"/>
          <p:cNvSpPr/>
          <p:nvPr/>
        </p:nvSpPr>
        <p:spPr>
          <a:xfrm>
            <a:off x="685800" y="175564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dentro-1" descr="dentr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24228"/>
            <a:ext cx="137160" cy="137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719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Estoque, vendas, clientes, fornecedores</a:t>
            </a:r>
            <a:endParaRPr lang="en-US" sz="1400" dirty="0"/>
          </a:p>
        </p:txBody>
      </p:sp>
      <p:sp>
        <p:nvSpPr>
          <p:cNvPr id="8" name="dentro-2-circulo"/>
          <p:cNvSpPr/>
          <p:nvPr/>
        </p:nvSpPr>
        <p:spPr>
          <a:xfrm>
            <a:off x="685800" y="218541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dentro-2" descr="dentr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253996"/>
            <a:ext cx="137160" cy="137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Agenda e serviços</a:t>
            </a:r>
            <a:endParaRPr lang="en-US" sz="1400" dirty="0"/>
          </a:p>
        </p:txBody>
      </p:sp>
      <p:sp>
        <p:nvSpPr>
          <p:cNvPr id="11" name="dentro-3-circulo"/>
          <p:cNvSpPr/>
          <p:nvPr/>
        </p:nvSpPr>
        <p:spPr>
          <a:xfrm>
            <a:off x="685800" y="2615184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dentro-3" descr="dentr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83764"/>
            <a:ext cx="137160" cy="137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Contas a pagar e receber</a:t>
            </a:r>
            <a:endParaRPr lang="en-US" sz="1400" dirty="0"/>
          </a:p>
        </p:txBody>
      </p:sp>
      <p:sp>
        <p:nvSpPr>
          <p:cNvPr id="14" name="dentro-4-circulo"/>
          <p:cNvSpPr/>
          <p:nvPr/>
        </p:nvSpPr>
        <p:spPr>
          <a:xfrm>
            <a:off x="685800" y="30449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dentro-4" descr="dentro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1353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008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Regras definidas pelo usuário</a:t>
            </a:r>
            <a:endParaRPr lang="en-US" sz="1400" dirty="0"/>
          </a:p>
        </p:txBody>
      </p:sp>
      <p:sp>
        <p:nvSpPr>
          <p:cNvPr id="17" name="dentro-5-circulo"/>
          <p:cNvSpPr/>
          <p:nvPr/>
        </p:nvSpPr>
        <p:spPr>
          <a:xfrm>
            <a:off x="685800" y="347472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dentro-5" descr="dentro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543300"/>
            <a:ext cx="137160" cy="1371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3438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Relatórios, painel e backup</a:t>
            </a:r>
            <a:endParaRPr lang="en-US" sz="1400" dirty="0"/>
          </a:p>
        </p:txBody>
      </p:sp>
      <p:sp>
        <p:nvSpPr>
          <p:cNvPr id="20" name="dentro-6-circulo"/>
          <p:cNvSpPr/>
          <p:nvPr/>
        </p:nvSpPr>
        <p:spPr>
          <a:xfrm>
            <a:off x="685800" y="390448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dentro-6" descr="dentro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973068"/>
            <a:ext cx="137160" cy="1371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38679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Um computador, uso local</a:t>
            </a:r>
            <a:endParaRPr lang="en-US" sz="1400" dirty="0"/>
          </a:p>
        </p:txBody>
      </p:sp>
      <p:sp>
        <p:nvSpPr>
          <p:cNvPr id="23" name="fora"/>
          <p:cNvSpPr/>
          <p:nvPr/>
        </p:nvSpPr>
        <p:spPr>
          <a:xfrm>
            <a:off x="4663440" y="109728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Fora (trabalhos futuros)</a:t>
            </a:r>
            <a:endParaRPr lang="en-US" sz="1700" dirty="0"/>
          </a:p>
        </p:txBody>
      </p:sp>
      <p:sp>
        <p:nvSpPr>
          <p:cNvPr id="25" name="fora-1-circulo"/>
          <p:cNvSpPr/>
          <p:nvPr/>
        </p:nvSpPr>
        <p:spPr>
          <a:xfrm>
            <a:off x="4892040" y="175564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fora-1" descr="fora-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1824228"/>
            <a:ext cx="137160" cy="1371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03520" y="1719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Nota fiscal e obrigações fiscais</a:t>
            </a:r>
            <a:endParaRPr lang="en-US" sz="1400" dirty="0"/>
          </a:p>
        </p:txBody>
      </p:sp>
      <p:sp>
        <p:nvSpPr>
          <p:cNvPr id="28" name="fora-2-circulo"/>
          <p:cNvSpPr/>
          <p:nvPr/>
        </p:nvSpPr>
        <p:spPr>
          <a:xfrm>
            <a:off x="4892040" y="2185416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fora-2" descr="fora-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0620" y="2253996"/>
            <a:ext cx="137160" cy="13716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30352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Integração bancária, Pix e pagamentos</a:t>
            </a:r>
            <a:endParaRPr lang="en-US" sz="1400" dirty="0"/>
          </a:p>
        </p:txBody>
      </p:sp>
      <p:sp>
        <p:nvSpPr>
          <p:cNvPr id="31" name="fora-3-circulo"/>
          <p:cNvSpPr/>
          <p:nvPr/>
        </p:nvSpPr>
        <p:spPr>
          <a:xfrm>
            <a:off x="4892040" y="261518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fora-3" descr="fora-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0620" y="2683764"/>
            <a:ext cx="137160" cy="13716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30352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Vários computadores, rede ou nuvem</a:t>
            </a:r>
            <a:endParaRPr lang="en-US" sz="1400" dirty="0"/>
          </a:p>
        </p:txBody>
      </p:sp>
      <p:sp>
        <p:nvSpPr>
          <p:cNvPr id="34" name="fora-4-circulo"/>
          <p:cNvSpPr/>
          <p:nvPr/>
        </p:nvSpPr>
        <p:spPr>
          <a:xfrm>
            <a:off x="4892040" y="304495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fora-4" descr="fora-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0620" y="3113532"/>
            <a:ext cx="137160" cy="13716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303520" y="3008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Aplicativo de celular</a:t>
            </a:r>
            <a:endParaRPr lang="en-US" sz="1400" dirty="0"/>
          </a:p>
        </p:txBody>
      </p:sp>
      <p:sp>
        <p:nvSpPr>
          <p:cNvPr id="37" name="fora-5-circulo"/>
          <p:cNvSpPr/>
          <p:nvPr/>
        </p:nvSpPr>
        <p:spPr>
          <a:xfrm>
            <a:off x="4892040" y="34747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fora-5" descr="fora-5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0620" y="3543300"/>
            <a:ext cx="137160" cy="13716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303520" y="3438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Integração com marketplaces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Cronograma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sem.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044315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sem.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95925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sem. 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947535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sem. 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sem. 24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F0 Aprovação e CEP</a:t>
            </a:r>
            <a:endParaRPr lang="en-US" sz="1200" dirty="0"/>
          </a:p>
        </p:txBody>
      </p:sp>
      <p:sp>
        <p:nvSpPr>
          <p:cNvPr id="9" name="barra-0"/>
          <p:cNvSpPr/>
          <p:nvPr/>
        </p:nvSpPr>
        <p:spPr>
          <a:xfrm>
            <a:off x="2880360" y="1234440"/>
            <a:ext cx="48387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4904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F1 Necessidade e fundamentação</a:t>
            </a:r>
            <a:endParaRPr lang="en-US" sz="1200" dirty="0"/>
          </a:p>
        </p:txBody>
      </p:sp>
      <p:sp>
        <p:nvSpPr>
          <p:cNvPr id="11" name="barra-1"/>
          <p:cNvSpPr/>
          <p:nvPr/>
        </p:nvSpPr>
        <p:spPr>
          <a:xfrm>
            <a:off x="3122295" y="1517904"/>
            <a:ext cx="1451610" cy="182880"/>
          </a:xfrm>
          <a:prstGeom prst="roundRect">
            <a:avLst>
              <a:gd name="adj" fmla="val 35000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73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F2 Mapa, motor e portão offline</a:t>
            </a:r>
            <a:endParaRPr lang="en-US" sz="1200" dirty="0"/>
          </a:p>
        </p:txBody>
      </p:sp>
      <p:sp>
        <p:nvSpPr>
          <p:cNvPr id="13" name="barra-2"/>
          <p:cNvSpPr/>
          <p:nvPr/>
        </p:nvSpPr>
        <p:spPr>
          <a:xfrm>
            <a:off x="3364230" y="1801368"/>
            <a:ext cx="1209675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057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F3 Etapas com IA</a:t>
            </a:r>
            <a:endParaRPr lang="en-US" sz="1200" dirty="0"/>
          </a:p>
        </p:txBody>
      </p:sp>
      <p:sp>
        <p:nvSpPr>
          <p:cNvPr id="15" name="barra-3"/>
          <p:cNvSpPr/>
          <p:nvPr/>
        </p:nvSpPr>
        <p:spPr>
          <a:xfrm>
            <a:off x="4090035" y="2084832"/>
            <a:ext cx="1209675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340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F4 Documentação, layout, entrega</a:t>
            </a:r>
            <a:endParaRPr lang="en-US" sz="1200" dirty="0"/>
          </a:p>
        </p:txBody>
      </p:sp>
      <p:sp>
        <p:nvSpPr>
          <p:cNvPr id="17" name="barra-4"/>
          <p:cNvSpPr/>
          <p:nvPr/>
        </p:nvSpPr>
        <p:spPr>
          <a:xfrm>
            <a:off x="4815840" y="2368296"/>
            <a:ext cx="96774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24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F5 Cenários de avaliação</a:t>
            </a:r>
            <a:endParaRPr lang="en-US" sz="1200" dirty="0"/>
          </a:p>
        </p:txBody>
      </p:sp>
      <p:sp>
        <p:nvSpPr>
          <p:cNvPr id="19" name="barra-5"/>
          <p:cNvSpPr/>
          <p:nvPr/>
        </p:nvSpPr>
        <p:spPr>
          <a:xfrm>
            <a:off x="3606165" y="2651760"/>
            <a:ext cx="1935480" cy="182880"/>
          </a:xfrm>
          <a:prstGeom prst="roundRect">
            <a:avLst>
              <a:gd name="adj" fmla="val 35000"/>
            </a:avLst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907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F6 Piloto</a:t>
            </a:r>
            <a:endParaRPr lang="en-US" sz="1200" dirty="0"/>
          </a:p>
        </p:txBody>
      </p:sp>
      <p:sp>
        <p:nvSpPr>
          <p:cNvPr id="21" name="barra-6"/>
          <p:cNvSpPr/>
          <p:nvPr/>
        </p:nvSpPr>
        <p:spPr>
          <a:xfrm>
            <a:off x="5541645" y="2935224"/>
            <a:ext cx="48387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191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F7 Avaliação técnica</a:t>
            </a:r>
            <a:endParaRPr lang="en-US" sz="1200" dirty="0"/>
          </a:p>
        </p:txBody>
      </p:sp>
      <p:sp>
        <p:nvSpPr>
          <p:cNvPr id="23" name="barra-7"/>
          <p:cNvSpPr/>
          <p:nvPr/>
        </p:nvSpPr>
        <p:spPr>
          <a:xfrm>
            <a:off x="5783580" y="3218688"/>
            <a:ext cx="725805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74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F8 Avaliação com usuários</a:t>
            </a:r>
            <a:endParaRPr lang="en-US" sz="1200" dirty="0"/>
          </a:p>
        </p:txBody>
      </p:sp>
      <p:sp>
        <p:nvSpPr>
          <p:cNvPr id="25" name="barra-8"/>
          <p:cNvSpPr/>
          <p:nvPr/>
        </p:nvSpPr>
        <p:spPr>
          <a:xfrm>
            <a:off x="6025515" y="3502152"/>
            <a:ext cx="725805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3758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F9 Análise</a:t>
            </a:r>
            <a:endParaRPr lang="en-US" sz="1200" dirty="0"/>
          </a:p>
        </p:txBody>
      </p:sp>
      <p:sp>
        <p:nvSpPr>
          <p:cNvPr id="27" name="barra-9"/>
          <p:cNvSpPr/>
          <p:nvPr/>
        </p:nvSpPr>
        <p:spPr>
          <a:xfrm>
            <a:off x="6509385" y="3785616"/>
            <a:ext cx="483870" cy="182880"/>
          </a:xfrm>
          <a:prstGeom prst="roundRect">
            <a:avLst>
              <a:gd name="adj" fmla="val 35000"/>
            </a:avLst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F10 Redação e defesa</a:t>
            </a:r>
            <a:endParaRPr lang="en-US" sz="1200" dirty="0"/>
          </a:p>
        </p:txBody>
      </p:sp>
      <p:sp>
        <p:nvSpPr>
          <p:cNvPr id="29" name="barra-10"/>
          <p:cNvSpPr/>
          <p:nvPr/>
        </p:nvSpPr>
        <p:spPr>
          <a:xfrm>
            <a:off x="6025515" y="4069080"/>
            <a:ext cx="2661285" cy="182880"/>
          </a:xfrm>
          <a:prstGeom prst="roundRect">
            <a:avLst>
              <a:gd name="adj" fmla="val 35000"/>
            </a:avLst>
          </a:prstGeom>
          <a:solidFill>
            <a:schemeClr val="accent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Laranja: 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caminho principal.  </a:t>
            </a:r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Cinza: 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em paralelo. Semanas relativas, a ajustar ao prazo da instituição.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Riscos e mitigação</a:t>
            </a:r>
            <a:endParaRPr lang="en-US" sz="3400" dirty="0"/>
          </a:p>
        </p:txBody>
      </p:sp>
      <p:sp>
        <p:nvSpPr>
          <p:cNvPr id="3" name="risco-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icone-risco-1-circulo"/>
          <p:cNvSpPr/>
          <p:nvPr/>
        </p:nvSpPr>
        <p:spPr>
          <a:xfrm>
            <a:off x="658368" y="12984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risco-1" descr="icone-risc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Escopo grande para um TCC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Escopo fechado, motor por templates e plano mínimo</a:t>
            </a:r>
            <a:endParaRPr lang="en-US" sz="1400" dirty="0"/>
          </a:p>
        </p:txBody>
      </p:sp>
      <p:sp>
        <p:nvSpPr>
          <p:cNvPr id="8" name="risco-2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icone-risco-2-circulo"/>
          <p:cNvSpPr/>
          <p:nvPr/>
        </p:nvSpPr>
        <p:spPr>
          <a:xfrm>
            <a:off x="4864608" y="12984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-risco-2" descr="icone-risc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356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IA lenta em PC comum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Modelo pequeno escolhido no piloto e modo guiado sem IA</a:t>
            </a:r>
            <a:endParaRPr lang="en-US" sz="1400" dirty="0"/>
          </a:p>
        </p:txBody>
      </p:sp>
      <p:sp>
        <p:nvSpPr>
          <p:cNvPr id="13" name="risco-3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4" name="icone-risco-3-circulo"/>
          <p:cNvSpPr/>
          <p:nvPr/>
        </p:nvSpPr>
        <p:spPr>
          <a:xfrm>
            <a:off x="658368" y="29900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-risco-3" descr="icone-risc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1272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Prazo do CEP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Consultar no início; plano B só com a avaliação técnica</a:t>
            </a:r>
            <a:endParaRPr lang="en-US" sz="1400" dirty="0"/>
          </a:p>
        </p:txBody>
      </p:sp>
      <p:sp>
        <p:nvSpPr>
          <p:cNvPr id="18" name="risco-4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9" name="icone-risco-4-circulo"/>
          <p:cNvSpPr/>
          <p:nvPr/>
        </p:nvSpPr>
        <p:spPr>
          <a:xfrm>
            <a:off x="4864608" y="29900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e-risco-4" descr="icone-risco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1272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Usuário não técnico se perde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Linguagem simples, confirmação por exemplos, teste no piloto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ja">
  <a:themeElements>
    <a:clrScheme name="Forja">
      <a:dk1>
        <a:srgbClr val="1C2230"/>
      </a:dk1>
      <a:lt1>
        <a:srgbClr val="FFFFFF"/>
      </a:lt1>
      <a:dk2>
        <a:srgbClr val="2B3240"/>
      </a:dk2>
      <a:lt2>
        <a:srgbClr val="F3F4F6"/>
      </a:lt2>
      <a:accent1>
        <a:srgbClr val="D9581E"/>
      </a:accent1>
      <a:accent2>
        <a:srgbClr val="F2A541"/>
      </a:accent2>
      <a:accent3>
        <a:srgbClr val="2E9E6B"/>
      </a:accent3>
      <a:accent4>
        <a:srgbClr val="4B5D7A"/>
      </a:accent4>
      <a:accent5>
        <a:srgbClr val="9AA5B8"/>
      </a:accent5>
      <a:accent6>
        <a:srgbClr val="FBE3D6"/>
      </a:accent6>
      <a:hlink>
        <a:srgbClr val="D9581E"/>
      </a:hlink>
      <a:folHlink>
        <a:srgbClr val="4B5D7A"/>
      </a:folHlink>
    </a:clrScheme>
    <a:fontScheme name="Forj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Forja: proposta de TCC</dc:title>
  <dc:subject>Sistemas de controle sob medida para pequenos negócios, com IA generativa local</dc:subject>
  <dc:creator>Nathan Thomaz</dc:creator>
  <cp:lastModifiedBy>Nathan Thomaz</cp:lastModifiedBy>
  <cp:revision>1</cp:revision>
  <dcterms:created xsi:type="dcterms:W3CDTF">2026-10-28T19:26:17Z</dcterms:created>
  <dcterms:modified xsi:type="dcterms:W3CDTF">2026-10-28T19:26:17Z</dcterms:modified>
</cp:coreProperties>
</file>