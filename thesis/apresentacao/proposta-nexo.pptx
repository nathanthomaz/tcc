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f3aa81fe-8cf4-af0c-9bb4-f7563ad04097}">
          <p14:sldIdLst>
            <p14:sldId id="256"/>
            <p14:sldId id="257"/>
          </p14:sldIdLst>
        </p14:section>
        <p14:section name="Problema" id="{766fe5be-10de-6cc5-732d-e0a6600b271c}">
          <p14:sldIdLst>
            <p14:sldId id="258"/>
            <p14:sldId id="259"/>
          </p14:sldIdLst>
        </p14:section>
        <p14:section name="Solução" id="{db01a956-587e-ad40-4f13-1f0d6272d47c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Pesquisa" id="{52ff2862-cad4-7369-8e0d-e66c98e232c6}">
          <p14:sldIdLst>
            <p14:sldId id="267"/>
            <p14:sldId id="268"/>
            <p14:sldId id="269"/>
            <p14:sldId id="270"/>
          </p14:sldIdLst>
        </p14:section>
        <p14:section name="Escopo" id="{0e38af7a-ae2c-c71e-655c-ff312b131f95}">
          <p14:sldIdLst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Tema do TCC em destaque; o Nexo é o projeto que investiga esse tema na prática. Título acadêmico: Da linguagem natural à especificação verificável: IA generativa, modelos estruturados e validação determinística para sistemas de pequenos negócios.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frase: o Nexo leva a necessidade do negócio, descrita em linguagem comum, a uma especificação que pode ser conferida automaticamente.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saídas comuns e onde cada uma falha para o pequeno negócio.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causa não é falta de ferramenta, e sim a passagem da descrição do negócio para uma especificação correta. É esse ponto que o Nexo ataca.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 geral do fluxo. Os quatro slides seguintes mostram cada etapa com o mesmo exemplo: a padaria da Ana, uma persona fictícia.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conversa é ilustrativa: mostra como o atendimento vai funcionar. O ponto central é a confirmação de cada regra com um exemplo concreto.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IA propõe essas estruturas a partir da conversa. O mapa da padaria existe e passa pelo validador implementado com 0 erros e 0 avisos (resultado real). A conversão automática pela IA é a próxima etapa do motor.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frase é um exemplo. A regra e a mensagem de erro são reais: o mapa da padaria foi alterado de propósito e passado pelo validador implementado.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Ilustração de como o sistema gerado vai ficar. A regra confirmada na conversa aparece em uso: a venda de 5 pães com 3 em estoque é bloqueada com a mensagem definida no mapa.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o sistema vai chegar ao negócio: local, sem internet e sem mensalidade. Mudanças voltam pelo mesmo fluxo, sem mexer em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Pronto: contrato, validador e testes. A IA ainda não está integrada e o sistema ainda não é gerado; essas são as próximas etapas.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resposta vem de métricas medidas em cenários definidos antes, não de opinião. Resultado positivo, negativo ou inconclusivo é válido.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Contrato: versão 0.2 pronta; a 0.3 acrescenta a ligação com os requisitos. Validação: implementada e testada.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Comparação principal: IA direta × IA + Nexo, nos mesmos cenários e com o mesmo modelo. Exploratório: revisão humana e preenchimento sem IA. Análise pareada por cenário (Wilcoxon, correção de Holm).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Consistência medida só pelo validador favoreceria o Nexo; por isso há a métrica de erros que escapam, medida pelo avaliador.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validação confere a consistência do mapa; não garante que a regra de negócio esteja certa.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IA local produzir poucos mapas válidos, isso já é um resultado e muda a arquitetura cedo.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Prazo final para tudo: 20/11/2026. Se apertar: menos cenários e só a comparação IA direta × IA + Nexo.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Contrato e validador já existem; o método e a evidência dependem do experimento.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_ESCUR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68680"/>
            <a:ext cx="80467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463040" y="3310128"/>
            <a:ext cx="71323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Nexo · Proposta de TCC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O_ESCUR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TEMA DO TCC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6868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Impacto da inteligência artificial generativa na agilidade e na qualidade do processo de desenvolvimento de software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8046720" cy="0"/>
          </a:xfrm>
          <a:prstGeom prst="line">
            <a:avLst/>
          </a:prstGeom>
          <a:noFill/>
          <a:ln w="12700">
            <a:solidFill>
              <a:srgbClr val="2B3240"/>
            </a:solidFill>
            <a:prstDash val="solid"/>
          </a:ln>
        </p:spPr>
      </p:sp>
      <p:sp>
        <p:nvSpPr>
          <p:cNvPr id="5" name="nos-circulo"/>
          <p:cNvSpPr/>
          <p:nvPr/>
        </p:nvSpPr>
        <p:spPr>
          <a:xfrm>
            <a:off x="548640" y="2852928"/>
            <a:ext cx="749808" cy="74980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nos" descr="n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3040380"/>
            <a:ext cx="374904" cy="3749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281635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Nexo</a:t>
            </a:r>
            <a:endParaRPr lang="en-US" sz="2800" dirty="0"/>
          </a:p>
        </p:txBody>
      </p:sp>
      <p:sp>
        <p:nvSpPr>
          <p:cNvPr id="8" name="Text 0"/>
          <p:cNvSpPr/>
          <p:nvPr>
            <p:ph idx="101" type="body" hasCustomPrompt="1"/>
          </p:nvPr>
        </p:nvSpPr>
        <p:spPr>
          <a:xfrm>
            <a:off x="1463040" y="331012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Da necessidade do pequeno negócio à especificação verificada</a:t>
            </a:r>
            <a:endParaRPr lang="en-US" sz="1500" dirty="0"/>
          </a:p>
        </p:txBody>
      </p:sp>
      <p:sp>
        <p:nvSpPr>
          <p:cNvPr id="9" name="Text 0"/>
          <p:cNvSpPr/>
          <p:nvPr>
            <p:ph idx="102" type="body" hasCustomPrompt="1"/>
          </p:nvPr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Proposta de TCC · Sistemas de Informação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Nathan Thomaz · Orientador(a): a definir · Outubro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que é o Nexo?</a:t>
            </a:r>
            <a:endParaRPr lang="en-US" sz="3200" dirty="0"/>
          </a:p>
        </p:txBody>
      </p:sp>
      <p:sp>
        <p:nvSpPr>
          <p:cNvPr id="3" name="resposta"/>
          <p:cNvSpPr/>
          <p:nvPr/>
        </p:nvSpPr>
        <p:spPr>
          <a:xfrm>
            <a:off x="457200" y="1051560"/>
            <a:ext cx="8229600" cy="960120"/>
          </a:xfrm>
          <a:prstGeom prst="roundRect">
            <a:avLst>
              <a:gd name="adj" fmla="val 11429"/>
            </a:avLst>
          </a:prstGeom>
          <a:solidFill>
            <a:schemeClr val="accent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05156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Uma ferramenta que transforma a descrição de um pequeno negócio numa especificação de sistema verificada.</a:t>
            </a:r>
            <a:endParaRPr lang="en-US" sz="2000" dirty="0"/>
          </a:p>
        </p:txBody>
      </p:sp>
      <p:sp>
        <p:nvSpPr>
          <p:cNvPr id="5" name="pilar-card-1"/>
          <p:cNvSpPr/>
          <p:nvPr/>
        </p:nvSpPr>
        <p:spPr>
          <a:xfrm>
            <a:off x="457200" y="237744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6" name="pilar-1-circulo"/>
          <p:cNvSpPr/>
          <p:nvPr/>
        </p:nvSpPr>
        <p:spPr>
          <a:xfrm>
            <a:off x="1325880" y="25603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pilar-1" descr="pilar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3050" y="2777490"/>
            <a:ext cx="434340" cy="4343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520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IA interpreta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9319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 que o dono descreve</a:t>
            </a:r>
            <a:endParaRPr lang="en-US" sz="1500" dirty="0"/>
          </a:p>
        </p:txBody>
      </p:sp>
      <p:sp>
        <p:nvSpPr>
          <p:cNvPr id="10" name="pilar-card-2"/>
          <p:cNvSpPr/>
          <p:nvPr/>
        </p:nvSpPr>
        <p:spPr>
          <a:xfrm>
            <a:off x="3268980" y="237744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1" name="pilar-2-circulo"/>
          <p:cNvSpPr/>
          <p:nvPr/>
        </p:nvSpPr>
        <p:spPr>
          <a:xfrm>
            <a:off x="4137660" y="25603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pilar-2" descr="pilar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830" y="2777490"/>
            <a:ext cx="434340" cy="4343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60420" y="3520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 mapa estrutura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360420" y="39319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dados, regras e telas</a:t>
            </a:r>
            <a:endParaRPr lang="en-US" sz="1500" dirty="0"/>
          </a:p>
        </p:txBody>
      </p:sp>
      <p:sp>
        <p:nvSpPr>
          <p:cNvPr id="15" name="pilar-card-3"/>
          <p:cNvSpPr/>
          <p:nvPr/>
        </p:nvSpPr>
        <p:spPr>
          <a:xfrm>
            <a:off x="6080760" y="237744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6" name="pilar-3-circulo"/>
          <p:cNvSpPr/>
          <p:nvPr/>
        </p:nvSpPr>
        <p:spPr>
          <a:xfrm>
            <a:off x="6949440" y="256032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pilar-3" descr="pilar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6610" y="2777490"/>
            <a:ext cx="434340" cy="4343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172200" y="3520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validação verifica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172200" y="39319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se tudo é consistente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Qual é o problema?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Pequenos negócios precisam controlar estoque, vendas, clientes e contas, mas as opções não encaixam.</a:t>
            </a:r>
            <a:endParaRPr lang="en-US" sz="1800" dirty="0"/>
          </a:p>
        </p:txBody>
      </p:sp>
      <p:sp>
        <p:nvSpPr>
          <p:cNvPr id="4" name="alternativa-1"/>
          <p:cNvSpPr/>
          <p:nvPr/>
        </p:nvSpPr>
        <p:spPr>
          <a:xfrm>
            <a:off x="457200" y="1828800"/>
            <a:ext cx="260604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5" name="icone-alt-1-circulo"/>
          <p:cNvSpPr/>
          <p:nvPr/>
        </p:nvSpPr>
        <p:spPr>
          <a:xfrm>
            <a:off x="1325880" y="205740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icone-alt-1" descr="icone-alt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3050" y="2274570"/>
            <a:ext cx="434340" cy="4343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3063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Sistema pronto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34747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Nem sempre segue as regras do negócio</a:t>
            </a:r>
            <a:endParaRPr lang="en-US" sz="1500" dirty="0"/>
          </a:p>
        </p:txBody>
      </p:sp>
      <p:sp>
        <p:nvSpPr>
          <p:cNvPr id="9" name="alternativa-2"/>
          <p:cNvSpPr/>
          <p:nvPr/>
        </p:nvSpPr>
        <p:spPr>
          <a:xfrm>
            <a:off x="3268980" y="1828800"/>
            <a:ext cx="260604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0" name="icone-alt-2-circulo"/>
          <p:cNvSpPr/>
          <p:nvPr/>
        </p:nvSpPr>
        <p:spPr>
          <a:xfrm>
            <a:off x="4137660" y="205740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icone-alt-2" descr="icone-alt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830" y="2274570"/>
            <a:ext cx="434340" cy="4343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06140" y="3063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Sistema sob medida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406140" y="34747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Costuma ser caro e demorado</a:t>
            </a:r>
            <a:endParaRPr lang="en-US" sz="1500" dirty="0"/>
          </a:p>
        </p:txBody>
      </p:sp>
      <p:sp>
        <p:nvSpPr>
          <p:cNvPr id="14" name="alternativa-3"/>
          <p:cNvSpPr/>
          <p:nvPr/>
        </p:nvSpPr>
        <p:spPr>
          <a:xfrm>
            <a:off x="6080760" y="1828800"/>
            <a:ext cx="260604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5" name="icone-alt-3-circulo"/>
          <p:cNvSpPr/>
          <p:nvPr/>
        </p:nvSpPr>
        <p:spPr>
          <a:xfrm>
            <a:off x="6949440" y="205740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icone-alt-3" descr="icone-alt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6610" y="2274570"/>
            <a:ext cx="434340" cy="4343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17920" y="3063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Planilha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34747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Sujeita a erros e a dados soltos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Qual é a causa?</a:t>
            </a:r>
            <a:endParaRPr lang="en-US" sz="3200" dirty="0"/>
          </a:p>
        </p:txBody>
      </p:sp>
      <p:sp>
        <p:nvSpPr>
          <p:cNvPr id="3" name="causa"/>
          <p:cNvSpPr/>
          <p:nvPr/>
        </p:nvSpPr>
        <p:spPr>
          <a:xfrm>
            <a:off x="457200" y="1051560"/>
            <a:ext cx="8229600" cy="9144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0515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Traduzir o negócio em regras precisas é difícil, e é nessa tradução que os erros nascem.</a:t>
            </a:r>
            <a:endParaRPr lang="en-US" sz="1900" dirty="0"/>
          </a:p>
        </p:txBody>
      </p:sp>
      <p:sp>
        <p:nvSpPr>
          <p:cNvPr id="5" name="icone-causa-1-circulo"/>
          <p:cNvSpPr/>
          <p:nvPr/>
        </p:nvSpPr>
        <p:spPr>
          <a:xfrm>
            <a:off x="457200" y="21945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e-causa-1" descr="icone-causa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790" y="234315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219456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 dono sabe o que precisa, mas não fala a língua do sistema.</a:t>
            </a:r>
            <a:endParaRPr lang="en-US" sz="1700" dirty="0"/>
          </a:p>
        </p:txBody>
      </p:sp>
      <p:sp>
        <p:nvSpPr>
          <p:cNvPr id="8" name="icone-causa-2-circulo"/>
          <p:cNvSpPr/>
          <p:nvPr/>
        </p:nvSpPr>
        <p:spPr>
          <a:xfrm>
            <a:off x="457200" y="29718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e-causa-2" descr="icone-causa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" y="3120390"/>
            <a:ext cx="297180" cy="2971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297180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IA entende o pedido, mas pode errar ou inventar.</a:t>
            </a:r>
            <a:endParaRPr lang="en-US" sz="1700" dirty="0"/>
          </a:p>
        </p:txBody>
      </p:sp>
      <p:sp>
        <p:nvSpPr>
          <p:cNvPr id="11" name="icone-causa-3-circulo"/>
          <p:cNvSpPr/>
          <p:nvPr/>
        </p:nvSpPr>
        <p:spPr>
          <a:xfrm>
            <a:off x="457200" y="37490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e-causa-3" descr="icone-causa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90" y="3897630"/>
            <a:ext cx="297180" cy="2971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374904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Sem verificação, o erro só aparece com o sistema em uso.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Como o Nexo resolve?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Em quatro etapas, do pedido do dono ao sistema pronto.</a:t>
            </a:r>
            <a:endParaRPr lang="en-US" sz="1800" dirty="0"/>
          </a:p>
        </p:txBody>
      </p:sp>
      <p:sp>
        <p:nvSpPr>
          <p:cNvPr id="4" name="etapa-1"/>
          <p:cNvSpPr/>
          <p:nvPr/>
        </p:nvSpPr>
        <p:spPr>
          <a:xfrm>
            <a:off x="457200" y="1554480"/>
            <a:ext cx="1874520" cy="251460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5" name="icone-etapa-1-circulo"/>
          <p:cNvSpPr/>
          <p:nvPr/>
        </p:nvSpPr>
        <p:spPr>
          <a:xfrm>
            <a:off x="1024128" y="169164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icone-etapa-1" descr="icone-etapa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18745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24871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1. Atender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2852928"/>
            <a:ext cx="1655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Conversa com o dono do negócio</a:t>
            </a:r>
            <a:endParaRPr lang="en-US" sz="1300" dirty="0"/>
          </a:p>
        </p:txBody>
      </p:sp>
      <p:sp>
        <p:nvSpPr>
          <p:cNvPr id="9" name="exemplo-etapa-1"/>
          <p:cNvSpPr/>
          <p:nvPr/>
        </p:nvSpPr>
        <p:spPr>
          <a:xfrm>
            <a:off x="566928" y="3474720"/>
            <a:ext cx="1655064" cy="457200"/>
          </a:xfrm>
          <a:prstGeom prst="roundRect">
            <a:avLst>
              <a:gd name="adj" fmla="val 16000"/>
            </a:avLst>
          </a:prstGeom>
          <a:solidFill>
            <a:schemeClr val="accent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12648" y="3474720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“Quero controlar vendas e estoque.”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350008" y="2788920"/>
            <a:ext cx="219456" cy="0"/>
          </a:xfrm>
          <a:prstGeom prst="line">
            <a:avLst/>
          </a:prstGeom>
          <a:noFill/>
          <a:ln w="22225">
            <a:solidFill>
              <a:srgbClr val="9AA5B8"/>
            </a:solidFill>
            <a:prstDash val="solid"/>
            <a:tailEnd type="triangle"/>
          </a:ln>
        </p:spPr>
      </p:sp>
      <p:sp>
        <p:nvSpPr>
          <p:cNvPr id="12" name="etapa-2"/>
          <p:cNvSpPr/>
          <p:nvPr/>
        </p:nvSpPr>
        <p:spPr>
          <a:xfrm>
            <a:off x="2587752" y="1554480"/>
            <a:ext cx="1874520" cy="251460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13" name="icone-etapa-2-circulo"/>
          <p:cNvSpPr/>
          <p:nvPr/>
        </p:nvSpPr>
        <p:spPr>
          <a:xfrm>
            <a:off x="3154680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e-etapa-2" descr="icone-etapa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87452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633472" y="24871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2. Transformar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2697480" y="2852928"/>
            <a:ext cx="1655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IA monta o mapa e a validação confere</a:t>
            </a:r>
            <a:endParaRPr lang="en-US" sz="1300" dirty="0"/>
          </a:p>
        </p:txBody>
      </p:sp>
      <p:sp>
        <p:nvSpPr>
          <p:cNvPr id="17" name="exemplo-etapa-2"/>
          <p:cNvSpPr/>
          <p:nvPr/>
        </p:nvSpPr>
        <p:spPr>
          <a:xfrm>
            <a:off x="2697480" y="3474720"/>
            <a:ext cx="1655064" cy="457200"/>
          </a:xfrm>
          <a:prstGeom prst="roundRect">
            <a:avLst>
              <a:gd name="adj" fmla="val 16000"/>
            </a:avLst>
          </a:prstGeom>
          <a:solidFill>
            <a:schemeClr val="accent6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2743200" y="3474720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produto, venda, regra de estoque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480560" y="2788920"/>
            <a:ext cx="219456" cy="0"/>
          </a:xfrm>
          <a:prstGeom prst="line">
            <a:avLst/>
          </a:prstGeom>
          <a:noFill/>
          <a:ln w="22225">
            <a:solidFill>
              <a:srgbClr val="9AA5B8"/>
            </a:solidFill>
            <a:prstDash val="solid"/>
            <a:tailEnd type="triangle"/>
          </a:ln>
        </p:spPr>
      </p:sp>
      <p:sp>
        <p:nvSpPr>
          <p:cNvPr id="20" name="etapa-3"/>
          <p:cNvSpPr/>
          <p:nvPr/>
        </p:nvSpPr>
        <p:spPr>
          <a:xfrm>
            <a:off x="4718304" y="1554480"/>
            <a:ext cx="1874520" cy="251460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21" name="icone-etapa-3-circulo"/>
          <p:cNvSpPr/>
          <p:nvPr/>
        </p:nvSpPr>
        <p:spPr>
          <a:xfrm>
            <a:off x="5285232" y="169164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2" name="icone-etapa-3" descr="icone-etapa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187452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764024" y="24871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3. Criar</a:t>
            </a:r>
            <a:endParaRPr lang="en-US" sz="1700" dirty="0"/>
          </a:p>
        </p:txBody>
      </p:sp>
      <p:sp>
        <p:nvSpPr>
          <p:cNvPr id="24" name="Text 19"/>
          <p:cNvSpPr txBox="1"/>
          <p:nvPr/>
        </p:nvSpPr>
        <p:spPr>
          <a:xfrm>
            <a:off x="4828032" y="2852928"/>
            <a:ext cx="1655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 motor gera banco, telas, regras e manual</a:t>
            </a:r>
            <a:endParaRPr lang="en-US" sz="1300" dirty="0"/>
          </a:p>
        </p:txBody>
      </p:sp>
      <p:sp>
        <p:nvSpPr>
          <p:cNvPr id="25" name="exemplo-etapa-3"/>
          <p:cNvSpPr/>
          <p:nvPr/>
        </p:nvSpPr>
        <p:spPr>
          <a:xfrm>
            <a:off x="4828032" y="3474720"/>
            <a:ext cx="1655064" cy="457200"/>
          </a:xfrm>
          <a:prstGeom prst="roundRect">
            <a:avLst>
              <a:gd name="adj" fmla="val 16000"/>
            </a:avLst>
          </a:prstGeom>
          <a:solidFill>
            <a:schemeClr val="accent6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4873752" y="3474720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o sistema da padaria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611112" y="2788920"/>
            <a:ext cx="219456" cy="0"/>
          </a:xfrm>
          <a:prstGeom prst="line">
            <a:avLst/>
          </a:prstGeom>
          <a:noFill/>
          <a:ln w="22225">
            <a:solidFill>
              <a:srgbClr val="9AA5B8"/>
            </a:solidFill>
            <a:prstDash val="solid"/>
            <a:tailEnd type="triangle"/>
          </a:ln>
        </p:spPr>
      </p:sp>
      <p:sp>
        <p:nvSpPr>
          <p:cNvPr id="28" name="etapa-4"/>
          <p:cNvSpPr/>
          <p:nvPr/>
        </p:nvSpPr>
        <p:spPr>
          <a:xfrm>
            <a:off x="6848856" y="1554480"/>
            <a:ext cx="1874520" cy="251460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29" name="icone-etapa-4-circulo"/>
          <p:cNvSpPr/>
          <p:nvPr/>
        </p:nvSpPr>
        <p:spPr>
          <a:xfrm>
            <a:off x="7415784" y="169164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0" name="icone-etapa-4" descr="icone-etapa-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8664" y="1874520"/>
            <a:ext cx="365760" cy="36576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6894576" y="24871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4. Disponibilizar</a:t>
            </a:r>
            <a:endParaRPr lang="en-US" sz="1700" dirty="0"/>
          </a:p>
        </p:txBody>
      </p:sp>
      <p:sp>
        <p:nvSpPr>
          <p:cNvPr id="32" name="Text 26"/>
          <p:cNvSpPr txBox="1"/>
          <p:nvPr/>
        </p:nvSpPr>
        <p:spPr>
          <a:xfrm>
            <a:off x="6958584" y="2852928"/>
            <a:ext cx="1655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Instalado no computador do negócio</a:t>
            </a:r>
            <a:endParaRPr lang="en-US" sz="1300" dirty="0"/>
          </a:p>
        </p:txBody>
      </p:sp>
      <p:sp>
        <p:nvSpPr>
          <p:cNvPr id="33" name="exemplo-etapa-4"/>
          <p:cNvSpPr/>
          <p:nvPr/>
        </p:nvSpPr>
        <p:spPr>
          <a:xfrm>
            <a:off x="6958584" y="3474720"/>
            <a:ext cx="1655064" cy="457200"/>
          </a:xfrm>
          <a:prstGeom prst="roundRect">
            <a:avLst>
              <a:gd name="adj" fmla="val 16000"/>
            </a:avLst>
          </a:prstGeom>
          <a:solidFill>
            <a:schemeClr val="accent6"/>
          </a:solidFill>
          <a:ln/>
        </p:spPr>
      </p:sp>
      <p:sp>
        <p:nvSpPr>
          <p:cNvPr id="34" name="Text 28"/>
          <p:cNvSpPr txBox="1"/>
          <p:nvPr/>
        </p:nvSpPr>
        <p:spPr>
          <a:xfrm>
            <a:off x="7004304" y="3474720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pronto para vender</a:t>
            </a:r>
            <a:endParaRPr lang="en-US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457200" y="42245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Exemplo dos próximos slides: a padaria da Ana (fictícia).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Etapa 1 · Atender: como é a conversa?</a:t>
            </a:r>
            <a:endParaRPr lang="en-US" sz="3200" dirty="0"/>
          </a:p>
        </p:txBody>
      </p:sp>
      <p:sp>
        <p:nvSpPr>
          <p:cNvPr id="3" name="chat"/>
          <p:cNvSpPr/>
          <p:nvPr/>
        </p:nvSpPr>
        <p:spPr>
          <a:xfrm>
            <a:off x="457200" y="1005840"/>
            <a:ext cx="562356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4" name="avatar-0"/>
          <p:cNvSpPr/>
          <p:nvPr/>
        </p:nvSpPr>
        <p:spPr>
          <a:xfrm>
            <a:off x="5623560" y="1143000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icone-avatar-0" descr="An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712" y="1216152"/>
            <a:ext cx="182880" cy="182880"/>
          </a:xfrm>
          <a:prstGeom prst="rect">
            <a:avLst/>
          </a:prstGeom>
        </p:spPr>
      </p:pic>
      <p:sp>
        <p:nvSpPr>
          <p:cNvPr id="6" name="balao-0"/>
          <p:cNvSpPr/>
          <p:nvPr/>
        </p:nvSpPr>
        <p:spPr>
          <a:xfrm>
            <a:off x="1691640" y="1115568"/>
            <a:ext cx="3840480" cy="384048"/>
          </a:xfrm>
          <a:prstGeom prst="roundRect">
            <a:avLst>
              <a:gd name="adj" fmla="val 23810"/>
            </a:avLst>
          </a:prstGeom>
          <a:solidFill>
            <a:schemeClr val="accent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801368" y="11155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Ana: </a:t>
            </a:r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Quero controlar as vendas e o estoque da padaria.</a:t>
            </a:r>
            <a:endParaRPr lang="en-US" sz="1200" dirty="0"/>
          </a:p>
        </p:txBody>
      </p:sp>
      <p:sp>
        <p:nvSpPr>
          <p:cNvPr id="8" name="avatar-1"/>
          <p:cNvSpPr/>
          <p:nvPr/>
        </p:nvSpPr>
        <p:spPr>
          <a:xfrm>
            <a:off x="566928" y="161848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e-avatar-1" descr="Nex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182880" cy="182880"/>
          </a:xfrm>
          <a:prstGeom prst="rect">
            <a:avLst/>
          </a:prstGeom>
        </p:spPr>
      </p:pic>
      <p:sp>
        <p:nvSpPr>
          <p:cNvPr id="10" name="balao-1"/>
          <p:cNvSpPr/>
          <p:nvPr/>
        </p:nvSpPr>
        <p:spPr>
          <a:xfrm>
            <a:off x="978408" y="1591056"/>
            <a:ext cx="3840480" cy="384048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1088136" y="159105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Nexo: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Certo. O que você precisa saber de cada produto?</a:t>
            </a:r>
            <a:endParaRPr lang="en-US" sz="1200" dirty="0"/>
          </a:p>
        </p:txBody>
      </p:sp>
      <p:sp>
        <p:nvSpPr>
          <p:cNvPr id="12" name="avatar-2"/>
          <p:cNvSpPr/>
          <p:nvPr/>
        </p:nvSpPr>
        <p:spPr>
          <a:xfrm>
            <a:off x="5623560" y="2093976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icone-avatar-2" descr="An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2167128"/>
            <a:ext cx="182880" cy="182880"/>
          </a:xfrm>
          <a:prstGeom prst="rect">
            <a:avLst/>
          </a:prstGeom>
        </p:spPr>
      </p:pic>
      <p:sp>
        <p:nvSpPr>
          <p:cNvPr id="14" name="balao-2"/>
          <p:cNvSpPr/>
          <p:nvPr/>
        </p:nvSpPr>
        <p:spPr>
          <a:xfrm>
            <a:off x="1691640" y="2066544"/>
            <a:ext cx="3840480" cy="384048"/>
          </a:xfrm>
          <a:prstGeom prst="roundRect">
            <a:avLst>
              <a:gd name="adj" fmla="val 23810"/>
            </a:avLst>
          </a:prstGeom>
          <a:solidFill>
            <a:schemeClr val="accent6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1801368" y="206654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Ana: </a:t>
            </a:r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Nome, preço e quanto tem em estoque.</a:t>
            </a:r>
            <a:endParaRPr lang="en-US" sz="1200" dirty="0"/>
          </a:p>
        </p:txBody>
      </p:sp>
      <p:sp>
        <p:nvSpPr>
          <p:cNvPr id="16" name="avatar-3"/>
          <p:cNvSpPr/>
          <p:nvPr/>
        </p:nvSpPr>
        <p:spPr>
          <a:xfrm>
            <a:off x="566928" y="2569464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e-avatar-3" descr="Nex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642616"/>
            <a:ext cx="182880" cy="182880"/>
          </a:xfrm>
          <a:prstGeom prst="rect">
            <a:avLst/>
          </a:prstGeom>
        </p:spPr>
      </p:pic>
      <p:sp>
        <p:nvSpPr>
          <p:cNvPr id="18" name="balao-3"/>
          <p:cNvSpPr/>
          <p:nvPr/>
        </p:nvSpPr>
        <p:spPr>
          <a:xfrm>
            <a:off x="978408" y="2542032"/>
            <a:ext cx="3840480" cy="384048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1088136" y="25420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Nexo: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Pode vender um produto que está sem estoque?</a:t>
            </a:r>
            <a:endParaRPr lang="en-US" sz="1200" dirty="0"/>
          </a:p>
        </p:txBody>
      </p:sp>
      <p:sp>
        <p:nvSpPr>
          <p:cNvPr id="20" name="avatar-4"/>
          <p:cNvSpPr/>
          <p:nvPr/>
        </p:nvSpPr>
        <p:spPr>
          <a:xfrm>
            <a:off x="5623560" y="3044952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icone-avatar-4" descr="An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6712" y="3118104"/>
            <a:ext cx="182880" cy="182880"/>
          </a:xfrm>
          <a:prstGeom prst="rect">
            <a:avLst/>
          </a:prstGeom>
        </p:spPr>
      </p:pic>
      <p:sp>
        <p:nvSpPr>
          <p:cNvPr id="22" name="balao-4"/>
          <p:cNvSpPr/>
          <p:nvPr/>
        </p:nvSpPr>
        <p:spPr>
          <a:xfrm>
            <a:off x="1691640" y="3017520"/>
            <a:ext cx="3840480" cy="384048"/>
          </a:xfrm>
          <a:prstGeom prst="roundRect">
            <a:avLst>
              <a:gd name="adj" fmla="val 23810"/>
            </a:avLst>
          </a:prstGeom>
          <a:solidFill>
            <a:schemeClr val="accent6"/>
          </a:solidFill>
          <a:ln/>
        </p:spPr>
      </p:sp>
      <p:sp>
        <p:nvSpPr>
          <p:cNvPr id="23" name="Text 16"/>
          <p:cNvSpPr txBox="1"/>
          <p:nvPr/>
        </p:nvSpPr>
        <p:spPr>
          <a:xfrm>
            <a:off x="1801368" y="30175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Ana: </a:t>
            </a:r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Não. Não posso vender o que acabou.</a:t>
            </a:r>
            <a:endParaRPr lang="en-US" sz="1200" dirty="0"/>
          </a:p>
        </p:txBody>
      </p:sp>
      <p:sp>
        <p:nvSpPr>
          <p:cNvPr id="24" name="avatar-5"/>
          <p:cNvSpPr/>
          <p:nvPr/>
        </p:nvSpPr>
        <p:spPr>
          <a:xfrm>
            <a:off x="566928" y="352044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e-avatar-5" descr="Nex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593592"/>
            <a:ext cx="182880" cy="182880"/>
          </a:xfrm>
          <a:prstGeom prst="rect">
            <a:avLst/>
          </a:prstGeom>
        </p:spPr>
      </p:pic>
      <p:sp>
        <p:nvSpPr>
          <p:cNvPr id="26" name="balao-5"/>
          <p:cNvSpPr/>
          <p:nvPr/>
        </p:nvSpPr>
        <p:spPr>
          <a:xfrm>
            <a:off x="978408" y="3493008"/>
            <a:ext cx="3840480" cy="384048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/>
        </p:spPr>
      </p:sp>
      <p:sp>
        <p:nvSpPr>
          <p:cNvPr id="27" name="Text 19"/>
          <p:cNvSpPr txBox="1"/>
          <p:nvPr/>
        </p:nvSpPr>
        <p:spPr>
          <a:xfrm>
            <a:off x="1088136" y="34930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Nexo: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 pães com 3 em estoque: bloqueia. Certo?</a:t>
            </a:r>
            <a:endParaRPr lang="en-US" sz="1200" dirty="0"/>
          </a:p>
        </p:txBody>
      </p:sp>
      <p:sp>
        <p:nvSpPr>
          <p:cNvPr id="28" name="avatar-6"/>
          <p:cNvSpPr/>
          <p:nvPr/>
        </p:nvSpPr>
        <p:spPr>
          <a:xfrm>
            <a:off x="5623560" y="3995928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9" name="icone-avatar-6" descr="Ana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96712" y="4069080"/>
            <a:ext cx="182880" cy="182880"/>
          </a:xfrm>
          <a:prstGeom prst="rect">
            <a:avLst/>
          </a:prstGeom>
        </p:spPr>
      </p:pic>
      <p:sp>
        <p:nvSpPr>
          <p:cNvPr id="30" name="balao-6"/>
          <p:cNvSpPr/>
          <p:nvPr/>
        </p:nvSpPr>
        <p:spPr>
          <a:xfrm>
            <a:off x="1691640" y="3968496"/>
            <a:ext cx="3840480" cy="384048"/>
          </a:xfrm>
          <a:prstGeom prst="roundRect">
            <a:avLst>
              <a:gd name="adj" fmla="val 23810"/>
            </a:avLst>
          </a:prstGeom>
          <a:solidFill>
            <a:schemeClr val="accent6"/>
          </a:solidFill>
          <a:ln/>
        </p:spPr>
      </p:sp>
      <p:sp>
        <p:nvSpPr>
          <p:cNvPr id="31" name="Text 22"/>
          <p:cNvSpPr txBox="1"/>
          <p:nvPr/>
        </p:nvSpPr>
        <p:spPr>
          <a:xfrm>
            <a:off x="1801368" y="396849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Ana: </a:t>
            </a:r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Isso mesmo.</a:t>
            </a:r>
            <a:endParaRPr lang="en-US" sz="1200" dirty="0"/>
          </a:p>
        </p:txBody>
      </p:sp>
      <p:sp>
        <p:nvSpPr>
          <p:cNvPr id="32" name="faz"/>
          <p:cNvSpPr/>
          <p:nvPr/>
        </p:nvSpPr>
        <p:spPr>
          <a:xfrm>
            <a:off x="6309360" y="1005840"/>
            <a:ext cx="2377440" cy="3520440"/>
          </a:xfrm>
          <a:prstGeom prst="roundRect">
            <a:avLst>
              <a:gd name="adj" fmla="val 4615"/>
            </a:avLst>
          </a:prstGeom>
          <a:solidFill>
            <a:schemeClr val="tx1"/>
          </a:solidFill>
          <a:ln/>
        </p:spPr>
      </p:sp>
      <p:sp>
        <p:nvSpPr>
          <p:cNvPr id="33" name="Text 24"/>
          <p:cNvSpPr txBox="1"/>
          <p:nvPr/>
        </p:nvSpPr>
        <p:spPr>
          <a:xfrm>
            <a:off x="6492240" y="1143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O que o Nexo faz</a:t>
            </a:r>
            <a:endParaRPr lang="en-US" sz="1600" dirty="0"/>
          </a:p>
        </p:txBody>
      </p:sp>
      <p:sp>
        <p:nvSpPr>
          <p:cNvPr id="34" name="Text 25"/>
          <p:cNvSpPr txBox="1"/>
          <p:nvPr/>
        </p:nvSpPr>
        <p:spPr>
          <a:xfrm>
            <a:off x="6492240" y="160020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Pergunta o que falta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Confirma cada regra com um exemplo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Só avança com o “sim” do dono</a:t>
            </a:r>
            <a:endParaRPr lang="en-US" sz="1400" dirty="0"/>
          </a:p>
        </p:txBody>
      </p:sp>
      <p:sp>
        <p:nvSpPr>
          <p:cNvPr id="35" name="Text 26"/>
          <p:cNvSpPr txBox="1"/>
          <p:nvPr/>
        </p:nvSpPr>
        <p:spPr>
          <a:xfrm>
            <a:off x="6492240" y="4114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Conversa ilustrativa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Etapa 2 · Transformar: da conversa ao mapa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A Ana disse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931920" y="960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Vira no mapa</a:t>
            </a:r>
            <a:endParaRPr lang="en-US" sz="1200" dirty="0"/>
          </a:p>
        </p:txBody>
      </p:sp>
      <p:sp>
        <p:nvSpPr>
          <p:cNvPr id="5" name="dito-0"/>
          <p:cNvSpPr/>
          <p:nvPr/>
        </p:nvSpPr>
        <p:spPr>
          <a:xfrm>
            <a:off x="457200" y="1280160"/>
            <a:ext cx="3017520" cy="493776"/>
          </a:xfrm>
          <a:prstGeom prst="roundRect">
            <a:avLst>
              <a:gd name="adj" fmla="val 14815"/>
            </a:avLst>
          </a:prstGeom>
          <a:solidFill>
            <a:schemeClr val="accent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280160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“Quero controlar vendas”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20440" y="1527048"/>
            <a:ext cx="365760" cy="0"/>
          </a:xfrm>
          <a:prstGeom prst="line">
            <a:avLst/>
          </a:prstGeom>
          <a:noFill/>
          <a:ln w="22225">
            <a:solidFill>
              <a:srgbClr val="9AA5B8"/>
            </a:solidFill>
            <a:prstDash val="solid"/>
            <a:tailEnd type="triangle"/>
          </a:ln>
        </p:spPr>
      </p:sp>
      <p:sp>
        <p:nvSpPr>
          <p:cNvPr id="8" name="mapa-0"/>
          <p:cNvSpPr/>
          <p:nvPr/>
        </p:nvSpPr>
        <p:spPr>
          <a:xfrm>
            <a:off x="3931920" y="1280160"/>
            <a:ext cx="4754880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069080" y="1280160"/>
            <a:ext cx="3246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Venda com itens (produto, quantidade)</a:t>
            </a:r>
            <a:endParaRPr lang="en-US" sz="1300" dirty="0"/>
          </a:p>
        </p:txBody>
      </p:sp>
      <p:sp>
        <p:nvSpPr>
          <p:cNvPr id="10" name="etiqueta-ENTIDADE"/>
          <p:cNvSpPr/>
          <p:nvPr/>
        </p:nvSpPr>
        <p:spPr>
          <a:xfrm>
            <a:off x="7406640" y="1408176"/>
            <a:ext cx="1143000" cy="23774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06640" y="140817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ENTIDADE</a:t>
            </a:r>
            <a:endParaRPr lang="en-US" sz="1000" dirty="0"/>
          </a:p>
        </p:txBody>
      </p:sp>
      <p:sp>
        <p:nvSpPr>
          <p:cNvPr id="12" name="dito-1"/>
          <p:cNvSpPr/>
          <p:nvPr/>
        </p:nvSpPr>
        <p:spPr>
          <a:xfrm>
            <a:off x="457200" y="1883664"/>
            <a:ext cx="3017520" cy="493776"/>
          </a:xfrm>
          <a:prstGeom prst="roundRect">
            <a:avLst>
              <a:gd name="adj" fmla="val 14815"/>
            </a:avLst>
          </a:prstGeom>
          <a:solidFill>
            <a:schemeClr val="accent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1883664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“Nome, preço e estoque”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520440" y="2130552"/>
            <a:ext cx="365760" cy="0"/>
          </a:xfrm>
          <a:prstGeom prst="line">
            <a:avLst/>
          </a:prstGeom>
          <a:noFill/>
          <a:ln w="22225">
            <a:solidFill>
              <a:srgbClr val="9AA5B8"/>
            </a:solidFill>
            <a:prstDash val="solid"/>
            <a:tailEnd type="triangle"/>
          </a:ln>
        </p:spPr>
      </p:sp>
      <p:sp>
        <p:nvSpPr>
          <p:cNvPr id="15" name="mapa-1"/>
          <p:cNvSpPr/>
          <p:nvPr/>
        </p:nvSpPr>
        <p:spPr>
          <a:xfrm>
            <a:off x="3931920" y="1883664"/>
            <a:ext cx="4754880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069080" y="1883664"/>
            <a:ext cx="3246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Produto: nome, preço, estoque</a:t>
            </a:r>
            <a:endParaRPr lang="en-US" sz="1300" dirty="0"/>
          </a:p>
        </p:txBody>
      </p:sp>
      <p:sp>
        <p:nvSpPr>
          <p:cNvPr id="17" name="etiqueta-ENTIDADE"/>
          <p:cNvSpPr/>
          <p:nvPr/>
        </p:nvSpPr>
        <p:spPr>
          <a:xfrm>
            <a:off x="7406640" y="2011680"/>
            <a:ext cx="1143000" cy="23774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06640" y="201168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ENTIDADE</a:t>
            </a:r>
            <a:endParaRPr lang="en-US" sz="1000" dirty="0"/>
          </a:p>
        </p:txBody>
      </p:sp>
      <p:sp>
        <p:nvSpPr>
          <p:cNvPr id="19" name="dito-2"/>
          <p:cNvSpPr/>
          <p:nvPr/>
        </p:nvSpPr>
        <p:spPr>
          <a:xfrm>
            <a:off x="457200" y="2487168"/>
            <a:ext cx="3017520" cy="493776"/>
          </a:xfrm>
          <a:prstGeom prst="roundRect">
            <a:avLst>
              <a:gd name="adj" fmla="val 14815"/>
            </a:avLst>
          </a:prstGeom>
          <a:solidFill>
            <a:schemeClr val="accent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2487168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“Não posso vender o que acabou”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520440" y="2734056"/>
            <a:ext cx="365760" cy="0"/>
          </a:xfrm>
          <a:prstGeom prst="line">
            <a:avLst/>
          </a:prstGeom>
          <a:noFill/>
          <a:ln w="22225">
            <a:solidFill>
              <a:srgbClr val="9AA5B8"/>
            </a:solidFill>
            <a:prstDash val="solid"/>
            <a:tailEnd type="triangle"/>
          </a:ln>
        </p:spPr>
      </p:sp>
      <p:sp>
        <p:nvSpPr>
          <p:cNvPr id="22" name="mapa-2"/>
          <p:cNvSpPr/>
          <p:nvPr/>
        </p:nvSpPr>
        <p:spPr>
          <a:xfrm>
            <a:off x="3931920" y="2487168"/>
            <a:ext cx="4754880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069080" y="2487168"/>
            <a:ext cx="3246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Regra: quantidade ≤ estoque na venda</a:t>
            </a:r>
            <a:endParaRPr lang="en-US" sz="1300" dirty="0"/>
          </a:p>
        </p:txBody>
      </p:sp>
      <p:sp>
        <p:nvSpPr>
          <p:cNvPr id="24" name="etiqueta-REGRA"/>
          <p:cNvSpPr/>
          <p:nvPr/>
        </p:nvSpPr>
        <p:spPr>
          <a:xfrm>
            <a:off x="7406640" y="2615184"/>
            <a:ext cx="1143000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06640" y="261518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REGRA</a:t>
            </a:r>
            <a:endParaRPr lang="en-US" sz="1000" dirty="0"/>
          </a:p>
        </p:txBody>
      </p:sp>
      <p:sp>
        <p:nvSpPr>
          <p:cNvPr id="26" name="dito-3"/>
          <p:cNvSpPr/>
          <p:nvPr/>
        </p:nvSpPr>
        <p:spPr>
          <a:xfrm>
            <a:off x="457200" y="3090672"/>
            <a:ext cx="3017520" cy="493776"/>
          </a:xfrm>
          <a:prstGeom prst="roundRect">
            <a:avLst>
              <a:gd name="adj" fmla="val 14815"/>
            </a:avLst>
          </a:prstGeom>
          <a:solidFill>
            <a:schemeClr val="accent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94360" y="3090672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“Isso mesmo.”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520440" y="3337560"/>
            <a:ext cx="365760" cy="0"/>
          </a:xfrm>
          <a:prstGeom prst="line">
            <a:avLst/>
          </a:prstGeom>
          <a:noFill/>
          <a:ln w="22225">
            <a:solidFill>
              <a:srgbClr val="9AA5B8"/>
            </a:solidFill>
            <a:prstDash val="solid"/>
            <a:tailEnd type="triangle"/>
          </a:ln>
        </p:spPr>
      </p:sp>
      <p:sp>
        <p:nvSpPr>
          <p:cNvPr id="29" name="mapa-3"/>
          <p:cNvSpPr/>
          <p:nvPr/>
        </p:nvSpPr>
        <p:spPr>
          <a:xfrm>
            <a:off x="3931920" y="3090672"/>
            <a:ext cx="4754880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069080" y="3090672"/>
            <a:ext cx="3246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5 pães com 3 em estoque → bloqueado</a:t>
            </a:r>
            <a:endParaRPr lang="en-US" sz="1300" dirty="0"/>
          </a:p>
        </p:txBody>
      </p:sp>
      <p:sp>
        <p:nvSpPr>
          <p:cNvPr id="31" name="etiqueta-TESTE"/>
          <p:cNvSpPr/>
          <p:nvPr/>
        </p:nvSpPr>
        <p:spPr>
          <a:xfrm>
            <a:off x="7406640" y="3218688"/>
            <a:ext cx="1143000" cy="23774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406640" y="321868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TESTE</a:t>
            </a:r>
            <a:endParaRPr lang="en-US" sz="1000" dirty="0"/>
          </a:p>
        </p:txBody>
      </p:sp>
      <p:sp>
        <p:nvSpPr>
          <p:cNvPr id="33" name="validacao"/>
          <p:cNvSpPr/>
          <p:nvPr/>
        </p:nvSpPr>
        <p:spPr>
          <a:xfrm>
            <a:off x="457200" y="3794760"/>
            <a:ext cx="8229600" cy="6858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</p:sp>
      <p:sp>
        <p:nvSpPr>
          <p:cNvPr id="34" name="icone-validacao-circulo"/>
          <p:cNvSpPr/>
          <p:nvPr/>
        </p:nvSpPr>
        <p:spPr>
          <a:xfrm>
            <a:off x="640080" y="3877056"/>
            <a:ext cx="512064" cy="51206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5" name="icone-validacao" descr="icone-validaca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4005072"/>
            <a:ext cx="256032" cy="256032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1325880" y="379476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 validação confere o mapa completo da padaria: </a:t>
            </a:r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0 erros, 0 avisos.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 se o mapa tiver um erro?</a:t>
            </a:r>
            <a:endParaRPr lang="en-US" sz="3200" dirty="0"/>
          </a:p>
        </p:txBody>
      </p:sp>
      <p:sp>
        <p:nvSpPr>
          <p:cNvPr id="3" name="frase"/>
          <p:cNvSpPr/>
          <p:nvPr/>
        </p:nvSpPr>
        <p:spPr>
          <a:xfrm>
            <a:off x="457200" y="1097280"/>
            <a:ext cx="2377440" cy="1188720"/>
          </a:xfrm>
          <a:prstGeom prst="roundRect">
            <a:avLst>
              <a:gd name="adj" fmla="val 9231"/>
            </a:avLst>
          </a:prstGeom>
          <a:solidFill>
            <a:schemeClr val="accent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1704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Dona de padaria (exemplo)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4630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“Não posso vender o que acabou.”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880360" y="1691640"/>
            <a:ext cx="274320" cy="0"/>
          </a:xfrm>
          <a:prstGeom prst="line">
            <a:avLst/>
          </a:prstGeom>
          <a:noFill/>
          <a:ln w="25400">
            <a:solidFill>
              <a:srgbClr val="9AA5B8"/>
            </a:solidFill>
            <a:prstDash val="solid"/>
            <a:tailEnd type="triangle"/>
          </a:ln>
        </p:spPr>
      </p:sp>
      <p:sp>
        <p:nvSpPr>
          <p:cNvPr id="7" name="regra"/>
          <p:cNvSpPr/>
          <p:nvPr/>
        </p:nvSpPr>
        <p:spPr>
          <a:xfrm>
            <a:off x="3200400" y="1097280"/>
            <a:ext cx="5486400" cy="1874520"/>
          </a:xfrm>
          <a:prstGeom prst="roundRect">
            <a:avLst>
              <a:gd name="adj" fmla="val 4878"/>
            </a:avLst>
          </a:prstGeom>
          <a:solidFill>
            <a:schemeClr val="tx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83280" y="11612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Regra no mapa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41732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"id": "r_estoque_suficiente", "tipo": "restricao",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"entidade": "venda", "transicoes": ["concluir"],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"para_cada": "itens",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"condicao": { "comparar": "&lt;=",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"esq": { "campo": "quantidade"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"dir": { "campo": </a:t>
            </a:r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"produto.estoqe"</a:t>
            </a:r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"mensagem": "Estoque insuficiente para este produto." }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67004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2"/>
                </a:solidFill>
              </a:rPr>
              <a:t>Em amarelo: erro de digitação proposital (o certo é produto.estoque).</a:t>
            </a:r>
            <a:endParaRPr lang="en-US" sz="1000" dirty="0"/>
          </a:p>
        </p:txBody>
      </p:sp>
      <p:sp>
        <p:nvSpPr>
          <p:cNvPr id="11" name="saida"/>
          <p:cNvSpPr/>
          <p:nvPr/>
        </p:nvSpPr>
        <p:spPr>
          <a:xfrm>
            <a:off x="457200" y="3154680"/>
            <a:ext cx="822960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2" name="erro-circulo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erro" descr="er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3406140"/>
            <a:ext cx="228600" cy="2286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234440" y="32918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REF_CAMPO_INEXISTENTE 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/regras/1/condicao/dir/campo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3639312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 caminho 'produto.estoqe' não existe a partir de 'item_venda': 'estoqe' não é campo nem relacionamento de 'produto'.  Sugestões: estoque, estoque_minimo.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234440" y="4187952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Saída real do validador do Nexo.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Etapa 3 · Criar: o sistema da padaria</a:t>
            </a:r>
            <a:endParaRPr lang="en-US" sz="3200" dirty="0"/>
          </a:p>
        </p:txBody>
      </p:sp>
      <p:sp>
        <p:nvSpPr>
          <p:cNvPr id="3" name="janela"/>
          <p:cNvSpPr/>
          <p:nvPr/>
        </p:nvSpPr>
        <p:spPr>
          <a:xfrm>
            <a:off x="457200" y="1005840"/>
            <a:ext cx="557784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4" name="barra-janela"/>
          <p:cNvSpPr/>
          <p:nvPr/>
        </p:nvSpPr>
        <p:spPr>
          <a:xfrm>
            <a:off x="457200" y="1005840"/>
            <a:ext cx="5577840" cy="347472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Padaria da Ana · Controle</a:t>
            </a:r>
            <a:endParaRPr lang="en-US" sz="1200" dirty="0"/>
          </a:p>
        </p:txBody>
      </p:sp>
      <p:sp>
        <p:nvSpPr>
          <p:cNvPr id="6" name="menu-ativo"/>
          <p:cNvSpPr/>
          <p:nvPr/>
        </p:nvSpPr>
        <p:spPr>
          <a:xfrm>
            <a:off x="548640" y="1481328"/>
            <a:ext cx="1234440" cy="310896"/>
          </a:xfrm>
          <a:prstGeom prst="roundRect">
            <a:avLst>
              <a:gd name="adj" fmla="val 17647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148132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Vendas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86537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Produtos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24942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Clientes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63347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Encomendas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0175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Painel</a:t>
            </a:r>
            <a:endParaRPr lang="en-US" sz="1200" dirty="0"/>
          </a:p>
        </p:txBody>
      </p:sp>
      <p:sp>
        <p:nvSpPr>
          <p:cNvPr id="12" name="area"/>
          <p:cNvSpPr/>
          <p:nvPr/>
        </p:nvSpPr>
        <p:spPr>
          <a:xfrm>
            <a:off x="1920240" y="1463040"/>
            <a:ext cx="3977640" cy="2880360"/>
          </a:xfrm>
          <a:prstGeom prst="roundRect">
            <a:avLst>
              <a:gd name="adj" fmla="val 1905"/>
            </a:avLst>
          </a:prstGeom>
          <a:solidFill>
            <a:schemeClr val="bg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057400" y="1536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Nova venda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57400" y="1920240"/>
          <a:ext cx="37033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22960"/>
                <a:gridCol w="10058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Produto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Qtd.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Estoque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Pão francês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Bolo de fubá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5" name="alerta"/>
          <p:cNvSpPr/>
          <p:nvPr/>
        </p:nvSpPr>
        <p:spPr>
          <a:xfrm>
            <a:off x="2057400" y="2907792"/>
            <a:ext cx="3703320" cy="457200"/>
          </a:xfrm>
          <a:prstGeom prst="roundRect">
            <a:avLst>
              <a:gd name="adj" fmla="val 12000"/>
            </a:avLst>
          </a:prstGeom>
          <a:solidFill>
            <a:schemeClr val="accent6"/>
          </a:solidFill>
          <a:ln/>
        </p:spPr>
      </p:sp>
      <p:pic>
        <p:nvPicPr>
          <p:cNvPr id="16" name="icone-alerta" descr="aler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2999232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514600" y="29077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Estoque insuficiente para este produto.</a:t>
            </a:r>
            <a:endParaRPr lang="en-US" sz="1200" dirty="0"/>
          </a:p>
        </p:txBody>
      </p:sp>
      <p:sp>
        <p:nvSpPr>
          <p:cNvPr id="18" name="botao"/>
          <p:cNvSpPr/>
          <p:nvPr/>
        </p:nvSpPr>
        <p:spPr>
          <a:xfrm>
            <a:off x="4206240" y="3657600"/>
            <a:ext cx="1554480" cy="36576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420624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Concluir venda</a:t>
            </a:r>
            <a:endParaRPr lang="en-US" sz="1200" dirty="0"/>
          </a:p>
        </p:txBody>
      </p:sp>
      <p:sp>
        <p:nvSpPr>
          <p:cNvPr id="20" name="etiqueta-ILUSTRAÇÃO"/>
          <p:cNvSpPr/>
          <p:nvPr/>
        </p:nvSpPr>
        <p:spPr>
          <a:xfrm>
            <a:off x="2057400" y="3721608"/>
            <a:ext cx="1234440" cy="23774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2057400" y="372160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ILUSTRAÇÃO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6263640" y="10058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 motor gera, a partir do mapa:</a:t>
            </a:r>
            <a:endParaRPr lang="en-US" sz="1400" dirty="0"/>
          </a:p>
        </p:txBody>
      </p:sp>
      <p:sp>
        <p:nvSpPr>
          <p:cNvPr id="23" name="icone-gera-1-circulo"/>
          <p:cNvSpPr/>
          <p:nvPr/>
        </p:nvSpPr>
        <p:spPr>
          <a:xfrm>
            <a:off x="6263640" y="148132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cone-gera-1" descr="icone-gera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9370" y="1607058"/>
            <a:ext cx="251460" cy="25146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903720" y="14813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Banco de dados</a:t>
            </a:r>
            <a:endParaRPr lang="en-US" sz="1500" dirty="0"/>
          </a:p>
        </p:txBody>
      </p:sp>
      <p:sp>
        <p:nvSpPr>
          <p:cNvPr id="26" name="icone-gera-2-circulo"/>
          <p:cNvSpPr/>
          <p:nvPr/>
        </p:nvSpPr>
        <p:spPr>
          <a:xfrm>
            <a:off x="6263640" y="221284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cone-gera-2" descr="icone-gera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370" y="2338578"/>
            <a:ext cx="251460" cy="25146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903720" y="22128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Telas e menu</a:t>
            </a:r>
            <a:endParaRPr lang="en-US" sz="1500" dirty="0"/>
          </a:p>
        </p:txBody>
      </p:sp>
      <p:sp>
        <p:nvSpPr>
          <p:cNvPr id="29" name="icone-gera-3-circulo"/>
          <p:cNvSpPr/>
          <p:nvPr/>
        </p:nvSpPr>
        <p:spPr>
          <a:xfrm>
            <a:off x="6263640" y="294436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cone-gera-3" descr="icone-gera-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9370" y="3070098"/>
            <a:ext cx="251460" cy="25146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903720" y="29443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Regras e testes</a:t>
            </a:r>
            <a:endParaRPr lang="en-US" sz="1500" dirty="0"/>
          </a:p>
        </p:txBody>
      </p:sp>
      <p:sp>
        <p:nvSpPr>
          <p:cNvPr id="32" name="icone-gera-4-circulo"/>
          <p:cNvSpPr/>
          <p:nvPr/>
        </p:nvSpPr>
        <p:spPr>
          <a:xfrm>
            <a:off x="6263640" y="367588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3" name="icone-gera-4" descr="icone-gera-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9370" y="3801618"/>
            <a:ext cx="251460" cy="25146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903720" y="36758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Manual simples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Etapa 4 · Disponibilizar: pronto para usar</a:t>
            </a:r>
            <a:endParaRPr lang="en-US" sz="3200" dirty="0"/>
          </a:p>
        </p:txBody>
      </p:sp>
      <p:sp>
        <p:nvSpPr>
          <p:cNvPr id="3" name="computador"/>
          <p:cNvSpPr/>
          <p:nvPr/>
        </p:nvSpPr>
        <p:spPr>
          <a:xfrm>
            <a:off x="457200" y="1051560"/>
            <a:ext cx="2743200" cy="27432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/>
        </p:spPr>
      </p:sp>
      <p:sp>
        <p:nvSpPr>
          <p:cNvPr id="4" name="icone-computador-circulo"/>
          <p:cNvSpPr/>
          <p:nvPr/>
        </p:nvSpPr>
        <p:spPr>
          <a:xfrm>
            <a:off x="1234440" y="128016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e-computador" descr="icone-computa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620" y="1577340"/>
            <a:ext cx="594360" cy="594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No computador da padaria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063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Instalação simples, sem depender de técnico</a:t>
            </a:r>
            <a:endParaRPr lang="en-US" sz="1200" dirty="0"/>
          </a:p>
        </p:txBody>
      </p:sp>
      <p:sp>
        <p:nvSpPr>
          <p:cNvPr id="8" name="disp-1"/>
          <p:cNvSpPr/>
          <p:nvPr/>
        </p:nvSpPr>
        <p:spPr>
          <a:xfrm>
            <a:off x="3429000" y="1051560"/>
            <a:ext cx="251460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9" name="icone-disp-1-circulo"/>
          <p:cNvSpPr/>
          <p:nvPr/>
        </p:nvSpPr>
        <p:spPr>
          <a:xfrm>
            <a:off x="3593592" y="128016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cone-disp-1" descr="icone-disp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14173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70248" y="12527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Sem internet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270248" y="161848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Funciona offline</a:t>
            </a:r>
            <a:endParaRPr lang="en-US" sz="1200" dirty="0"/>
          </a:p>
        </p:txBody>
      </p:sp>
      <p:sp>
        <p:nvSpPr>
          <p:cNvPr id="13" name="disp-2"/>
          <p:cNvSpPr/>
          <p:nvPr/>
        </p:nvSpPr>
        <p:spPr>
          <a:xfrm>
            <a:off x="6080760" y="1051560"/>
            <a:ext cx="251460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4" name="icone-disp-2-circulo"/>
          <p:cNvSpPr/>
          <p:nvPr/>
        </p:nvSpPr>
        <p:spPr>
          <a:xfrm>
            <a:off x="6245352" y="128016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cone-disp-2" descr="icone-disp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41732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22008" y="12527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Sem mensalidade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922008" y="161848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Custo zero</a:t>
            </a:r>
            <a:endParaRPr lang="en-US" sz="1200" dirty="0"/>
          </a:p>
        </p:txBody>
      </p:sp>
      <p:sp>
        <p:nvSpPr>
          <p:cNvPr id="18" name="disp-3"/>
          <p:cNvSpPr/>
          <p:nvPr/>
        </p:nvSpPr>
        <p:spPr>
          <a:xfrm>
            <a:off x="3429000" y="2468880"/>
            <a:ext cx="251460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9" name="icone-disp-3-circulo"/>
          <p:cNvSpPr/>
          <p:nvPr/>
        </p:nvSpPr>
        <p:spPr>
          <a:xfrm>
            <a:off x="3593592" y="26974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icone-disp-3" descr="icone-disp-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752" y="283464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270248" y="26700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Backup e planilha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4270248" y="30358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Os dados são da Ana</a:t>
            </a:r>
            <a:endParaRPr lang="en-US" sz="1200" dirty="0"/>
          </a:p>
        </p:txBody>
      </p:sp>
      <p:sp>
        <p:nvSpPr>
          <p:cNvPr id="23" name="disp-4"/>
          <p:cNvSpPr/>
          <p:nvPr/>
        </p:nvSpPr>
        <p:spPr>
          <a:xfrm>
            <a:off x="6080760" y="2468880"/>
            <a:ext cx="251460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24" name="icone-disp-4-circulo"/>
          <p:cNvSpPr/>
          <p:nvPr/>
        </p:nvSpPr>
        <p:spPr>
          <a:xfrm>
            <a:off x="6245352" y="26974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5" name="icone-disp-4" descr="icone-disp-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283464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922008" y="26700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Manual simples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6922008" y="30358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Gerado junto com o sistema</a:t>
            </a:r>
            <a:endParaRPr lang="en-US" sz="1200" dirty="0"/>
          </a:p>
        </p:txBody>
      </p:sp>
      <p:sp>
        <p:nvSpPr>
          <p:cNvPr id="28" name="ciclo"/>
          <p:cNvSpPr/>
          <p:nvPr/>
        </p:nvSpPr>
        <p:spPr>
          <a:xfrm>
            <a:off x="457200" y="3977640"/>
            <a:ext cx="8229600" cy="502920"/>
          </a:xfrm>
          <a:prstGeom prst="roundRect">
            <a:avLst>
              <a:gd name="adj" fmla="val 21818"/>
            </a:avLst>
          </a:prstGeom>
          <a:solidFill>
            <a:schemeClr val="accent6"/>
          </a:solidFill>
          <a:ln/>
        </p:spPr>
      </p:sp>
      <p:pic>
        <p:nvPicPr>
          <p:cNvPr id="29" name="icone-ciclo" descr="cicl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4087368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005840" y="39776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Mudou uma regra? A Ana volta à conversa, o mapa é atualizado e o sistema é gerado de novo.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Em que ponto está o motor?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Em desenvolvimento. O núcleo já funciona e está testado.</a:t>
            </a:r>
            <a:endParaRPr lang="en-US" sz="1800" dirty="0"/>
          </a:p>
        </p:txBody>
      </p:sp>
      <p:sp>
        <p:nvSpPr>
          <p:cNvPr id="4" name="pronto"/>
          <p:cNvSpPr/>
          <p:nvPr/>
        </p:nvSpPr>
        <p:spPr>
          <a:xfrm>
            <a:off x="457200" y="1737360"/>
            <a:ext cx="40233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5" name="etiqueta-PRONTO"/>
          <p:cNvSpPr/>
          <p:nvPr/>
        </p:nvSpPr>
        <p:spPr>
          <a:xfrm>
            <a:off x="685800" y="1920240"/>
            <a:ext cx="1463040" cy="23774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9202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PRONTO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7744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Contrato do mapa (v0.2)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Validador com 48 tipos de erro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Comando validar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111 testes automatizados</a:t>
            </a:r>
            <a:endParaRPr lang="en-US" sz="1600" dirty="0"/>
          </a:p>
        </p:txBody>
      </p:sp>
      <p:sp>
        <p:nvSpPr>
          <p:cNvPr id="8" name="proximo"/>
          <p:cNvSpPr/>
          <p:nvPr/>
        </p:nvSpPr>
        <p:spPr>
          <a:xfrm>
            <a:off x="4663440" y="1737360"/>
            <a:ext cx="40233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etiqueta-PRÓXIMO"/>
          <p:cNvSpPr/>
          <p:nvPr/>
        </p:nvSpPr>
        <p:spPr>
          <a:xfrm>
            <a:off x="4892040" y="1920240"/>
            <a:ext cx="1463040" cy="23774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92040" y="19202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PRÓXIMO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237744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Requisitos ligados ao mapa (v0.3)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IA local que preenche o mapa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Correção automática pelos erros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Geração do sistema a partir do mapa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Qual é a pergunta de pesquisa?</a:t>
            </a:r>
            <a:endParaRPr lang="en-US" sz="3200" dirty="0"/>
          </a:p>
        </p:txBody>
      </p:sp>
      <p:sp>
        <p:nvSpPr>
          <p:cNvPr id="3" name="pergunta"/>
          <p:cNvSpPr/>
          <p:nvPr/>
        </p:nvSpPr>
        <p:spPr>
          <a:xfrm>
            <a:off x="457200" y="1051560"/>
            <a:ext cx="8229600" cy="1280160"/>
          </a:xfrm>
          <a:prstGeom prst="roundRect">
            <a:avLst>
              <a:gd name="adj" fmla="val 8571"/>
            </a:avLst>
          </a:prstGeom>
          <a:solidFill>
            <a:schemeClr val="accent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0515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chemeClr val="tx1"/>
                </a:solidFill>
              </a:rPr>
              <a:t>O mapa e a validação do Nexo tornam as especificações feitas por IA mais completas, consistentes e rastreáveis do que pedir direto à IA?</a:t>
            </a:r>
            <a:endParaRPr lang="en-US" sz="1900" dirty="0"/>
          </a:p>
        </p:txBody>
      </p:sp>
      <p:sp>
        <p:nvSpPr>
          <p:cNvPr id="5" name="sub-1"/>
          <p:cNvSpPr/>
          <p:nvPr/>
        </p:nvSpPr>
        <p:spPr>
          <a:xfrm>
            <a:off x="457200" y="2606040"/>
            <a:ext cx="26060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6" name="icone-sub-1-circulo"/>
          <p:cNvSpPr/>
          <p:nvPr/>
        </p:nvSpPr>
        <p:spPr>
          <a:xfrm>
            <a:off x="1463040" y="27889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e-sub-1" descr="icone-sub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1630" y="2937510"/>
            <a:ext cx="297180" cy="2971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4360" y="35204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Quanto a qualidade melhora?</a:t>
            </a:r>
            <a:endParaRPr lang="en-US" sz="1600" dirty="0"/>
          </a:p>
        </p:txBody>
      </p:sp>
      <p:sp>
        <p:nvSpPr>
          <p:cNvPr id="9" name="sub-2"/>
          <p:cNvSpPr/>
          <p:nvPr/>
        </p:nvSpPr>
        <p:spPr>
          <a:xfrm>
            <a:off x="3268980" y="2606040"/>
            <a:ext cx="26060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0" name="icone-sub-2-circulo"/>
          <p:cNvSpPr/>
          <p:nvPr/>
        </p:nvSpPr>
        <p:spPr>
          <a:xfrm>
            <a:off x="4274820" y="27889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e-sub-2" descr="icone-sub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3410" y="293751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06140" y="35204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Que erros a validação pega, e quais escapam?</a:t>
            </a:r>
            <a:endParaRPr lang="en-US" sz="1600" dirty="0"/>
          </a:p>
        </p:txBody>
      </p:sp>
      <p:sp>
        <p:nvSpPr>
          <p:cNvPr id="13" name="sub-3"/>
          <p:cNvSpPr/>
          <p:nvPr/>
        </p:nvSpPr>
        <p:spPr>
          <a:xfrm>
            <a:off x="6080760" y="2606040"/>
            <a:ext cx="26060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4" name="icone-sub-3-circulo"/>
          <p:cNvSpPr/>
          <p:nvPr/>
        </p:nvSpPr>
        <p:spPr>
          <a:xfrm>
            <a:off x="7086600" y="27889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e-sub-3" descr="icone-sub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190" y="293751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35204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Quanta correção ainda sobra?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Quais são os objetivos?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Desenvolver o Nexo e medir se ele melhora a qualidade das especificações.</a:t>
            </a:r>
            <a:endParaRPr lang="en-US" sz="1800" dirty="0"/>
          </a:p>
        </p:txBody>
      </p:sp>
      <p:sp>
        <p:nvSpPr>
          <p:cNvPr id="4" name="objetivo-1"/>
          <p:cNvSpPr/>
          <p:nvPr/>
        </p:nvSpPr>
        <p:spPr>
          <a:xfrm>
            <a:off x="457200" y="1783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5" name="num-obj-1"/>
          <p:cNvSpPr/>
          <p:nvPr/>
        </p:nvSpPr>
        <p:spPr>
          <a:xfrm>
            <a:off x="594360" y="187452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7830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Definir o contrato do mapa</a:t>
            </a:r>
            <a:endParaRPr lang="en-US" sz="1600" dirty="0"/>
          </a:p>
        </p:txBody>
      </p:sp>
      <p:sp>
        <p:nvSpPr>
          <p:cNvPr id="8" name="etiqueta-EM ANDAMENTO"/>
          <p:cNvSpPr/>
          <p:nvPr/>
        </p:nvSpPr>
        <p:spPr>
          <a:xfrm>
            <a:off x="7178040" y="1938528"/>
            <a:ext cx="1371600" cy="2377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78040" y="19385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EM ANDAMENTO</a:t>
            </a:r>
            <a:endParaRPr lang="en-US" sz="1000" dirty="0"/>
          </a:p>
        </p:txBody>
      </p:sp>
      <p:sp>
        <p:nvSpPr>
          <p:cNvPr id="10" name="objetivo-2"/>
          <p:cNvSpPr/>
          <p:nvPr/>
        </p:nvSpPr>
        <p:spPr>
          <a:xfrm>
            <a:off x="457200" y="2441448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1" name="num-obj-2"/>
          <p:cNvSpPr/>
          <p:nvPr/>
        </p:nvSpPr>
        <p:spPr>
          <a:xfrm>
            <a:off x="594360" y="253288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2532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44144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Implementar a validação</a:t>
            </a:r>
            <a:endParaRPr lang="en-US" sz="1600" dirty="0"/>
          </a:p>
        </p:txBody>
      </p:sp>
      <p:sp>
        <p:nvSpPr>
          <p:cNvPr id="14" name="etiqueta-PRONTO"/>
          <p:cNvSpPr/>
          <p:nvPr/>
        </p:nvSpPr>
        <p:spPr>
          <a:xfrm>
            <a:off x="7178040" y="2596896"/>
            <a:ext cx="1371600" cy="23774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78040" y="25968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PRONTO</a:t>
            </a:r>
            <a:endParaRPr lang="en-US" sz="1000" dirty="0"/>
          </a:p>
        </p:txBody>
      </p:sp>
      <p:sp>
        <p:nvSpPr>
          <p:cNvPr id="16" name="objetivo-3"/>
          <p:cNvSpPr/>
          <p:nvPr/>
        </p:nvSpPr>
        <p:spPr>
          <a:xfrm>
            <a:off x="457200" y="3099816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7" name="num-obj-3"/>
          <p:cNvSpPr/>
          <p:nvPr/>
        </p:nvSpPr>
        <p:spPr>
          <a:xfrm>
            <a:off x="594360" y="319125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3191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3099816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Integrar a IA local ao mapa</a:t>
            </a:r>
            <a:endParaRPr lang="en-US" sz="1600" dirty="0"/>
          </a:p>
        </p:txBody>
      </p:sp>
      <p:sp>
        <p:nvSpPr>
          <p:cNvPr id="20" name="etiqueta-PRÓXIMO"/>
          <p:cNvSpPr/>
          <p:nvPr/>
        </p:nvSpPr>
        <p:spPr>
          <a:xfrm>
            <a:off x="7178040" y="3255264"/>
            <a:ext cx="1371600" cy="23774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78040" y="325526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PRÓXIMO</a:t>
            </a:r>
            <a:endParaRPr lang="en-US" sz="1000" dirty="0"/>
          </a:p>
        </p:txBody>
      </p:sp>
      <p:sp>
        <p:nvSpPr>
          <p:cNvPr id="22" name="objetivo-4"/>
          <p:cNvSpPr/>
          <p:nvPr/>
        </p:nvSpPr>
        <p:spPr>
          <a:xfrm>
            <a:off x="457200" y="3758184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23" name="num-obj-4"/>
          <p:cNvSpPr/>
          <p:nvPr/>
        </p:nvSpPr>
        <p:spPr>
          <a:xfrm>
            <a:off x="594360" y="3849624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4360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3758184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Comparar com a IA direta em cenários de pequenos negócios</a:t>
            </a:r>
            <a:endParaRPr lang="en-US" sz="1600" dirty="0"/>
          </a:p>
        </p:txBody>
      </p:sp>
      <p:sp>
        <p:nvSpPr>
          <p:cNvPr id="26" name="etiqueta-PRÓXIMO"/>
          <p:cNvSpPr/>
          <p:nvPr/>
        </p:nvSpPr>
        <p:spPr>
          <a:xfrm>
            <a:off x="7178040" y="3913632"/>
            <a:ext cx="1371600" cy="23774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78040" y="39136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PRÓXIMO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Como vamos avaliar?</a:t>
            </a:r>
            <a:endParaRPr lang="en-US" sz="3200" dirty="0"/>
          </a:p>
        </p:txBody>
      </p:sp>
      <p:sp>
        <p:nvSpPr>
          <p:cNvPr id="3" name="cenario"/>
          <p:cNvSpPr/>
          <p:nvPr/>
        </p:nvSpPr>
        <p:spPr>
          <a:xfrm>
            <a:off x="457200" y="1234440"/>
            <a:ext cx="2057400" cy="246888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4" name="icone-cenario-circulo"/>
          <p:cNvSpPr/>
          <p:nvPr/>
        </p:nvSpPr>
        <p:spPr>
          <a:xfrm>
            <a:off x="1097280" y="1417320"/>
            <a:ext cx="777240" cy="7772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icone-cenario" descr="icone-cenar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1590" y="161163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2860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Mesmo cenário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6517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Ex.: padaria, escrito por outra pessoa</a:t>
            </a:r>
            <a:endParaRPr lang="en-US" sz="1300" dirty="0"/>
          </a:p>
        </p:txBody>
      </p:sp>
      <p:sp>
        <p:nvSpPr>
          <p:cNvPr id="8" name="lado-IA direta"/>
          <p:cNvSpPr/>
          <p:nvPr/>
        </p:nvSpPr>
        <p:spPr>
          <a:xfrm>
            <a:off x="2926080" y="1051560"/>
            <a:ext cx="28346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9" name="icone-IA direta-circulo"/>
          <p:cNvSpPr/>
          <p:nvPr/>
        </p:nvSpPr>
        <p:spPr>
          <a:xfrm>
            <a:off x="3090672" y="1353312"/>
            <a:ext cx="585216" cy="585216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icone-IA direta" descr="icone-IA dire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976" y="149961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840480" y="1188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IA direta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840480" y="158191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Pede tudo direto à IA</a:t>
            </a:r>
            <a:endParaRPr lang="en-US" sz="1200" dirty="0"/>
          </a:p>
        </p:txBody>
      </p:sp>
      <p:sp>
        <p:nvSpPr>
          <p:cNvPr id="13" name="lado-IA + Nexo"/>
          <p:cNvSpPr/>
          <p:nvPr/>
        </p:nvSpPr>
        <p:spPr>
          <a:xfrm>
            <a:off x="2926080" y="2697480"/>
            <a:ext cx="2834640" cy="1188720"/>
          </a:xfrm>
          <a:prstGeom prst="roundRect">
            <a:avLst>
              <a:gd name="adj" fmla="val 9231"/>
            </a:avLst>
          </a:prstGeom>
          <a:solidFill>
            <a:schemeClr val="accent6"/>
          </a:solidFill>
          <a:ln/>
        </p:spPr>
      </p:sp>
      <p:sp>
        <p:nvSpPr>
          <p:cNvPr id="14" name="icone-IA + Nexo-circulo"/>
          <p:cNvSpPr/>
          <p:nvPr/>
        </p:nvSpPr>
        <p:spPr>
          <a:xfrm>
            <a:off x="3090672" y="2999232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e-IA + Nexo" descr="icone-IA + Nex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976" y="314553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84048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IA + Nexo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3840480" y="322783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Conversa, mapa, validação e correção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 flipV="1">
            <a:off x="2542032" y="1645920"/>
            <a:ext cx="365760" cy="822960"/>
          </a:xfrm>
          <a:prstGeom prst="line">
            <a:avLst/>
          </a:prstGeom>
          <a:noFill/>
          <a:ln w="22225">
            <a:solidFill>
              <a:srgbClr val="9AA5B8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2542032" y="2468880"/>
            <a:ext cx="365760" cy="822960"/>
          </a:xfrm>
          <a:prstGeom prst="line">
            <a:avLst/>
          </a:prstGeom>
          <a:noFill/>
          <a:ln w="22225">
            <a:solidFill>
              <a:srgbClr val="9AA5B8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5788152" y="1645920"/>
            <a:ext cx="365760" cy="822960"/>
          </a:xfrm>
          <a:prstGeom prst="line">
            <a:avLst/>
          </a:prstGeom>
          <a:noFill/>
          <a:ln w="22225">
            <a:solidFill>
              <a:srgbClr val="9AA5B8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 flipV="1">
            <a:off x="5788152" y="2468880"/>
            <a:ext cx="365760" cy="822960"/>
          </a:xfrm>
          <a:prstGeom prst="line">
            <a:avLst/>
          </a:prstGeom>
          <a:noFill/>
          <a:ln w="22225">
            <a:solidFill>
              <a:srgbClr val="9AA5B8"/>
            </a:solidFill>
            <a:prstDash val="solid"/>
            <a:tailEnd type="triangle"/>
          </a:ln>
        </p:spPr>
      </p:sp>
      <p:sp>
        <p:nvSpPr>
          <p:cNvPr id="22" name="avaliador"/>
          <p:cNvSpPr/>
          <p:nvPr/>
        </p:nvSpPr>
        <p:spPr>
          <a:xfrm>
            <a:off x="6172200" y="1234440"/>
            <a:ext cx="2514600" cy="2468880"/>
          </a:xfrm>
          <a:prstGeom prst="roundRect">
            <a:avLst>
              <a:gd name="adj" fmla="val 4444"/>
            </a:avLst>
          </a:prstGeom>
          <a:solidFill>
            <a:schemeClr val="tx1"/>
          </a:solidFill>
          <a:ln/>
        </p:spPr>
      </p:sp>
      <p:sp>
        <p:nvSpPr>
          <p:cNvPr id="23" name="icone-avaliador-circulo"/>
          <p:cNvSpPr/>
          <p:nvPr/>
        </p:nvSpPr>
        <p:spPr>
          <a:xfrm>
            <a:off x="7022592" y="141732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4" name="icone-avaliador" descr="icone-avaliad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6902" y="1611630"/>
            <a:ext cx="388620" cy="3886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263640" y="2286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Avaliador cego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6309360" y="26517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Compara com o gabarito sem saber de onde veio cada resultado</a:t>
            </a:r>
            <a:endParaRPr lang="en-US" sz="1300" dirty="0"/>
          </a:p>
        </p:txBody>
      </p:sp>
      <p:sp>
        <p:nvSpPr>
          <p:cNvPr id="27" name="resultado-aval"/>
          <p:cNvSpPr/>
          <p:nvPr/>
        </p:nvSpPr>
        <p:spPr>
          <a:xfrm>
            <a:off x="457200" y="3977640"/>
            <a:ext cx="8229600" cy="502920"/>
          </a:xfrm>
          <a:prstGeom prst="roundRect">
            <a:avLst>
              <a:gd name="adj" fmla="val 21818"/>
            </a:avLst>
          </a:prstGeom>
          <a:solidFill>
            <a:schemeClr val="accent6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85800" y="3977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Resultado: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qual especificação ficou mais completa e consistente?  ·  mesmo modelo de IA  ·  5 repetições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que vamos medir?</a:t>
            </a:r>
            <a:endParaRPr lang="en-US" sz="3200" dirty="0"/>
          </a:p>
        </p:txBody>
      </p:sp>
      <p:sp>
        <p:nvSpPr>
          <p:cNvPr id="3" name="metrica-1"/>
          <p:cNvSpPr/>
          <p:nvPr/>
        </p:nvSpPr>
        <p:spPr>
          <a:xfrm>
            <a:off x="457200" y="1097280"/>
            <a:ext cx="1920240" cy="2743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4" name="icone-metrica-1-circulo"/>
          <p:cNvSpPr/>
          <p:nvPr/>
        </p:nvSpPr>
        <p:spPr>
          <a:xfrm>
            <a:off x="1005840" y="13258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e-metrica-1" descr="icone-metrica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15316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286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Completude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7432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Requisitos atendidos</a:t>
            </a:r>
            <a:endParaRPr lang="en-US" sz="1400" dirty="0"/>
          </a:p>
        </p:txBody>
      </p:sp>
      <p:sp>
        <p:nvSpPr>
          <p:cNvPr id="8" name="metrica-2"/>
          <p:cNvSpPr/>
          <p:nvPr/>
        </p:nvSpPr>
        <p:spPr>
          <a:xfrm>
            <a:off x="2560320" y="1097280"/>
            <a:ext cx="1920240" cy="2743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9" name="icone-metrica-2-circulo"/>
          <p:cNvSpPr/>
          <p:nvPr/>
        </p:nvSpPr>
        <p:spPr>
          <a:xfrm>
            <a:off x="3108960" y="13258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e-metrica-2" descr="icone-metrica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0" y="153162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51760" y="2286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Consistência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697480" y="27432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Erros no mapa final</a:t>
            </a:r>
            <a:endParaRPr lang="en-US" sz="1400" dirty="0"/>
          </a:p>
        </p:txBody>
      </p:sp>
      <p:sp>
        <p:nvSpPr>
          <p:cNvPr id="13" name="metrica-3"/>
          <p:cNvSpPr/>
          <p:nvPr/>
        </p:nvSpPr>
        <p:spPr>
          <a:xfrm>
            <a:off x="4663440" y="1097280"/>
            <a:ext cx="1920240" cy="2743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4" name="icone-metrica-3-circulo"/>
          <p:cNvSpPr/>
          <p:nvPr/>
        </p:nvSpPr>
        <p:spPr>
          <a:xfrm>
            <a:off x="5212080" y="13258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e-metrica-3" descr="icone-metrica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820" y="153162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54880" y="2286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Rastreabilidade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800600" y="27432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Cada item ligado a um requisito</a:t>
            </a:r>
            <a:endParaRPr lang="en-US" sz="1400" dirty="0"/>
          </a:p>
        </p:txBody>
      </p:sp>
      <p:sp>
        <p:nvSpPr>
          <p:cNvPr id="18" name="metrica-4"/>
          <p:cNvSpPr/>
          <p:nvPr/>
        </p:nvSpPr>
        <p:spPr>
          <a:xfrm>
            <a:off x="6766560" y="1097280"/>
            <a:ext cx="1920240" cy="2743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9" name="icone-metrica-4-circulo"/>
          <p:cNvSpPr/>
          <p:nvPr/>
        </p:nvSpPr>
        <p:spPr>
          <a:xfrm>
            <a:off x="7315200" y="13258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e-metrica-4" descr="icone-metrica-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0940" y="153162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58000" y="2286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Erros que escapam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903720" y="27432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Achados pelo avaliador, não pela validação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Também: tempo e quantidade de correções.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que entra e o que fica fora?</a:t>
            </a:r>
            <a:endParaRPr lang="en-US" sz="3200" dirty="0"/>
          </a:p>
        </p:txBody>
      </p:sp>
      <p:sp>
        <p:nvSpPr>
          <p:cNvPr id="3" name="dentro"/>
          <p:cNvSpPr/>
          <p:nvPr/>
        </p:nvSpPr>
        <p:spPr>
          <a:xfrm>
            <a:off x="457200" y="1051560"/>
            <a:ext cx="402336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Entra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Estoque, vendas, clientes, agenda e contas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Regras de restrição, cálculo e ação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Roda no computador do negócio, sem custo</a:t>
            </a:r>
            <a:endParaRPr lang="en-US" sz="1500" dirty="0"/>
          </a:p>
        </p:txBody>
      </p:sp>
      <p:sp>
        <p:nvSpPr>
          <p:cNvPr id="6" name="fora"/>
          <p:cNvSpPr/>
          <p:nvPr/>
        </p:nvSpPr>
        <p:spPr>
          <a:xfrm>
            <a:off x="4663440" y="1051560"/>
            <a:ext cx="402336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9204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Fica fora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4592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Nota fiscal e pagamentos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Nuvem e celular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Integração com outros sistemas</a:t>
            </a:r>
            <a:endParaRPr lang="en-US" sz="1500" dirty="0"/>
          </a:p>
        </p:txBody>
      </p:sp>
      <p:sp>
        <p:nvSpPr>
          <p:cNvPr id="9" name="limites"/>
          <p:cNvSpPr/>
          <p:nvPr/>
        </p:nvSpPr>
        <p:spPr>
          <a:xfrm>
            <a:off x="457200" y="3611880"/>
            <a:ext cx="8229600" cy="82296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36118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Limite: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poucos cenários e um único modelo de IA; o resultado não vale para todo tipo de negócio.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Quais são os riscos?</a:t>
            </a:r>
            <a:endParaRPr lang="en-US" sz="3200" dirty="0"/>
          </a:p>
        </p:txBody>
      </p:sp>
      <p:sp>
        <p:nvSpPr>
          <p:cNvPr id="3" name="risco-1"/>
          <p:cNvSpPr/>
          <p:nvPr/>
        </p:nvSpPr>
        <p:spPr>
          <a:xfrm>
            <a:off x="457200" y="1097280"/>
            <a:ext cx="82296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4" name="icone-risco-1-circulo"/>
          <p:cNvSpPr/>
          <p:nvPr/>
        </p:nvSpPr>
        <p:spPr>
          <a:xfrm>
            <a:off x="640080" y="1261872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e-risco-1" descr="icone-risco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40817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097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IA local lenta ou fraca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572000" y="1554480"/>
            <a:ext cx="457200" cy="0"/>
          </a:xfrm>
          <a:prstGeom prst="line">
            <a:avLst/>
          </a:prstGeom>
          <a:noFill/>
          <a:ln w="22225">
            <a:solidFill>
              <a:srgbClr val="9AA5B8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5212080" y="10972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 piloto mede antes do experimento</a:t>
            </a:r>
            <a:endParaRPr lang="en-US" sz="1600" dirty="0"/>
          </a:p>
        </p:txBody>
      </p:sp>
      <p:sp>
        <p:nvSpPr>
          <p:cNvPr id="9" name="risco-2"/>
          <p:cNvSpPr/>
          <p:nvPr/>
        </p:nvSpPr>
        <p:spPr>
          <a:xfrm>
            <a:off x="457200" y="2194560"/>
            <a:ext cx="82296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0" name="icone-risco-2-circulo"/>
          <p:cNvSpPr/>
          <p:nvPr/>
        </p:nvSpPr>
        <p:spPr>
          <a:xfrm>
            <a:off x="640080" y="2359152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e-risco-2" descr="icone-risco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50545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21945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Avaliação favorecer o Nexo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4572000" y="2651760"/>
            <a:ext cx="457200" cy="0"/>
          </a:xfrm>
          <a:prstGeom prst="line">
            <a:avLst/>
          </a:prstGeom>
          <a:noFill/>
          <a:ln w="22225">
            <a:solidFill>
              <a:srgbClr val="9AA5B8"/>
            </a:solidFill>
            <a:prstDash val="solid"/>
            <a:tailEnd type="triangle"/>
          </a:ln>
        </p:spPr>
      </p:sp>
      <p:sp>
        <p:nvSpPr>
          <p:cNvPr id="14" name="Text 10"/>
          <p:cNvSpPr txBox="1"/>
          <p:nvPr/>
        </p:nvSpPr>
        <p:spPr>
          <a:xfrm>
            <a:off x="5212080" y="21945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Avaliador cego e cenários de terceiros</a:t>
            </a:r>
            <a:endParaRPr lang="en-US" sz="1600" dirty="0"/>
          </a:p>
        </p:txBody>
      </p:sp>
      <p:sp>
        <p:nvSpPr>
          <p:cNvPr id="15" name="risco-3"/>
          <p:cNvSpPr/>
          <p:nvPr/>
        </p:nvSpPr>
        <p:spPr>
          <a:xfrm>
            <a:off x="457200" y="3291840"/>
            <a:ext cx="82296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6" name="icone-risco-3-circulo"/>
          <p:cNvSpPr/>
          <p:nvPr/>
        </p:nvSpPr>
        <p:spPr>
          <a:xfrm>
            <a:off x="640080" y="3456432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e-risco-3" descr="icone-risco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3602736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63040" y="32918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Prazo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4572000" y="3749040"/>
            <a:ext cx="457200" cy="0"/>
          </a:xfrm>
          <a:prstGeom prst="line">
            <a:avLst/>
          </a:prstGeom>
          <a:noFill/>
          <a:ln w="22225">
            <a:solidFill>
              <a:srgbClr val="9AA5B8"/>
            </a:solidFill>
            <a:prstDash val="solid"/>
            <a:tailEnd type="triangle"/>
          </a:ln>
        </p:spPr>
      </p:sp>
      <p:sp>
        <p:nvSpPr>
          <p:cNvPr id="20" name="Text 15"/>
          <p:cNvSpPr txBox="1"/>
          <p:nvPr/>
        </p:nvSpPr>
        <p:spPr>
          <a:xfrm>
            <a:off x="5212080" y="32918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Foco na especificação e na validação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Qual é o cronograma?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2743200" y="9601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28/10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343400" y="9601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04/11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9601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11/11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543800" y="9601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18/11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344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F0 Aprovação da proposta</a:t>
            </a:r>
            <a:endParaRPr lang="en-US" sz="1300" dirty="0"/>
          </a:p>
        </p:txBody>
      </p:sp>
      <p:sp>
        <p:nvSpPr>
          <p:cNvPr id="8" name="barra-0"/>
          <p:cNvSpPr/>
          <p:nvPr/>
        </p:nvSpPr>
        <p:spPr>
          <a:xfrm>
            <a:off x="2743200" y="1271016"/>
            <a:ext cx="685800" cy="182880"/>
          </a:xfrm>
          <a:prstGeom prst="roundRect">
            <a:avLst>
              <a:gd name="adj" fmla="val 35000"/>
            </a:avLst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83864" y="1234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28/10–30/10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5361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F1 Fundamentação teórica</a:t>
            </a:r>
            <a:endParaRPr lang="en-US" sz="1300" dirty="0"/>
          </a:p>
        </p:txBody>
      </p:sp>
      <p:sp>
        <p:nvSpPr>
          <p:cNvPr id="11" name="barra-1"/>
          <p:cNvSpPr/>
          <p:nvPr/>
        </p:nvSpPr>
        <p:spPr>
          <a:xfrm>
            <a:off x="2971800" y="1572768"/>
            <a:ext cx="3429000" cy="182880"/>
          </a:xfrm>
          <a:prstGeom prst="roundRect">
            <a:avLst>
              <a:gd name="adj" fmla="val 35000"/>
            </a:avLst>
          </a:prstGeom>
          <a:solidFill>
            <a:schemeClr val="accent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55664" y="15361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29/10–12/11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83794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F2 Contrato v0.3</a:t>
            </a:r>
            <a:endParaRPr lang="en-US" sz="1300" dirty="0"/>
          </a:p>
        </p:txBody>
      </p:sp>
      <p:sp>
        <p:nvSpPr>
          <p:cNvPr id="14" name="barra-2"/>
          <p:cNvSpPr/>
          <p:nvPr/>
        </p:nvSpPr>
        <p:spPr>
          <a:xfrm>
            <a:off x="3200400" y="1874520"/>
            <a:ext cx="914400" cy="182880"/>
          </a:xfrm>
          <a:prstGeom prst="roundRect">
            <a:avLst>
              <a:gd name="adj" fmla="val 35000"/>
            </a:avLst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169664" y="18379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30/10–02/11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13969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F3 IA local + correção</a:t>
            </a:r>
            <a:endParaRPr lang="en-US" sz="1300" dirty="0"/>
          </a:p>
        </p:txBody>
      </p:sp>
      <p:sp>
        <p:nvSpPr>
          <p:cNvPr id="17" name="barra-3"/>
          <p:cNvSpPr/>
          <p:nvPr/>
        </p:nvSpPr>
        <p:spPr>
          <a:xfrm>
            <a:off x="3886200" y="2176272"/>
            <a:ext cx="1600200" cy="182880"/>
          </a:xfrm>
          <a:prstGeom prst="roundRect">
            <a:avLst>
              <a:gd name="adj" fmla="val 35000"/>
            </a:avLst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541264" y="21396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02/11–08/11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4414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F4 Cenários e gabarito</a:t>
            </a:r>
            <a:endParaRPr lang="en-US" sz="1300" dirty="0"/>
          </a:p>
        </p:txBody>
      </p:sp>
      <p:sp>
        <p:nvSpPr>
          <p:cNvPr id="20" name="barra-4"/>
          <p:cNvSpPr/>
          <p:nvPr/>
        </p:nvSpPr>
        <p:spPr>
          <a:xfrm>
            <a:off x="3200400" y="2478024"/>
            <a:ext cx="1828800" cy="182880"/>
          </a:xfrm>
          <a:prstGeom prst="roundRect">
            <a:avLst>
              <a:gd name="adj" fmla="val 35000"/>
            </a:avLst>
          </a:prstGeom>
          <a:solidFill>
            <a:schemeClr val="accent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84064" y="24414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30/10–06/11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27432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F5 Piloto</a:t>
            </a:r>
            <a:endParaRPr lang="en-US" sz="1300" dirty="0"/>
          </a:p>
        </p:txBody>
      </p:sp>
      <p:sp>
        <p:nvSpPr>
          <p:cNvPr id="23" name="barra-5"/>
          <p:cNvSpPr/>
          <p:nvPr/>
        </p:nvSpPr>
        <p:spPr>
          <a:xfrm>
            <a:off x="5257800" y="2779776"/>
            <a:ext cx="457200" cy="182880"/>
          </a:xfrm>
          <a:prstGeom prst="roundRect">
            <a:avLst>
              <a:gd name="adj" fmla="val 35000"/>
            </a:avLst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769864" y="27432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08/11–09/11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0449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F6 Experimento</a:t>
            </a:r>
            <a:endParaRPr lang="en-US" sz="1300" dirty="0"/>
          </a:p>
        </p:txBody>
      </p:sp>
      <p:sp>
        <p:nvSpPr>
          <p:cNvPr id="26" name="barra-6"/>
          <p:cNvSpPr/>
          <p:nvPr/>
        </p:nvSpPr>
        <p:spPr>
          <a:xfrm>
            <a:off x="5715000" y="3081528"/>
            <a:ext cx="914400" cy="182880"/>
          </a:xfrm>
          <a:prstGeom prst="roundRect">
            <a:avLst>
              <a:gd name="adj" fmla="val 35000"/>
            </a:avLst>
          </a:prstGeom>
          <a:solidFill>
            <a:schemeClr val="accent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684264" y="3044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10/11–13/11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34670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F7 Análise</a:t>
            </a:r>
            <a:endParaRPr lang="en-US" sz="1300" dirty="0"/>
          </a:p>
        </p:txBody>
      </p:sp>
      <p:sp>
        <p:nvSpPr>
          <p:cNvPr id="29" name="barra-7"/>
          <p:cNvSpPr/>
          <p:nvPr/>
        </p:nvSpPr>
        <p:spPr>
          <a:xfrm>
            <a:off x="6400800" y="3383280"/>
            <a:ext cx="685800" cy="182880"/>
          </a:xfrm>
          <a:prstGeom prst="roundRect">
            <a:avLst>
              <a:gd name="adj" fmla="val 35000"/>
            </a:avLst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31536" y="33467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13/11–15/11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364845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F8 Redação e defesa</a:t>
            </a:r>
            <a:endParaRPr lang="en-US" sz="1300" dirty="0"/>
          </a:p>
        </p:txBody>
      </p:sp>
      <p:sp>
        <p:nvSpPr>
          <p:cNvPr id="32" name="barra-8"/>
          <p:cNvSpPr/>
          <p:nvPr/>
        </p:nvSpPr>
        <p:spPr>
          <a:xfrm>
            <a:off x="5715000" y="3685032"/>
            <a:ext cx="2514600" cy="182880"/>
          </a:xfrm>
          <a:prstGeom prst="roundRect">
            <a:avLst>
              <a:gd name="adj" fmla="val 35000"/>
            </a:avLst>
          </a:prstGeom>
          <a:solidFill>
            <a:schemeClr val="accent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745736" y="36484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10/11–20/11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229600" y="960120"/>
            <a:ext cx="0" cy="3017520"/>
          </a:xfrm>
          <a:prstGeom prst="line">
            <a:avLst/>
          </a:prstGeom>
          <a:noFill/>
          <a:ln w="25400">
            <a:solidFill>
              <a:srgbClr val="D9581E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6766560" y="40050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20/11 · entrega final</a:t>
            </a:r>
            <a:endParaRPr lang="en-US" sz="1100" dirty="0"/>
          </a:p>
        </p:txBody>
      </p:sp>
      <p:sp>
        <p:nvSpPr>
          <p:cNvPr id="36" name="etiqueta-PRONTO"/>
          <p:cNvSpPr/>
          <p:nvPr/>
        </p:nvSpPr>
        <p:spPr>
          <a:xfrm>
            <a:off x="457200" y="4206240"/>
            <a:ext cx="1097280" cy="23774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57200" y="42062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PRONTO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691640" y="4160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Contrato v0.2 e validador já feitos. Laranja: caminho principal; cinza: em paralelo.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O que o TCC entrega?</a:t>
            </a:r>
            <a:endParaRPr lang="en-US" sz="3400" dirty="0"/>
          </a:p>
        </p:txBody>
      </p:sp>
      <p:sp>
        <p:nvSpPr>
          <p:cNvPr id="3" name="contrib-1-circulo"/>
          <p:cNvSpPr/>
          <p:nvPr/>
        </p:nvSpPr>
        <p:spPr>
          <a:xfrm>
            <a:off x="548640" y="13258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contrib-1" descr="contrib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48590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3258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Contrato do mapa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1691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aberto e documentado</a:t>
            </a:r>
            <a:endParaRPr lang="en-US" sz="1400" dirty="0"/>
          </a:p>
        </p:txBody>
      </p:sp>
      <p:sp>
        <p:nvSpPr>
          <p:cNvPr id="7" name="contrib-2-circulo"/>
          <p:cNvSpPr/>
          <p:nvPr/>
        </p:nvSpPr>
        <p:spPr>
          <a:xfrm>
            <a:off x="4617720" y="13258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contrib-2" descr="contrib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148590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40680" y="13258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Validador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40680" y="1691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com catálogo de erros e testes</a:t>
            </a:r>
            <a:endParaRPr lang="en-US" sz="1400" dirty="0"/>
          </a:p>
        </p:txBody>
      </p:sp>
      <p:sp>
        <p:nvSpPr>
          <p:cNvPr id="11" name="contrib-3-circulo"/>
          <p:cNvSpPr/>
          <p:nvPr/>
        </p:nvSpPr>
        <p:spPr>
          <a:xfrm>
            <a:off x="548640" y="25146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contrib-3" descr="contrib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26746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71600" y="25146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Método de avaliação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371600" y="2880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cenários, gabarito e métricas</a:t>
            </a:r>
            <a:endParaRPr lang="en-US" sz="1400" dirty="0"/>
          </a:p>
        </p:txBody>
      </p:sp>
      <p:sp>
        <p:nvSpPr>
          <p:cNvPr id="15" name="contrib-4-circulo"/>
          <p:cNvSpPr/>
          <p:nvPr/>
        </p:nvSpPr>
        <p:spPr>
          <a:xfrm>
            <a:off x="4617720" y="25146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contrib-4" descr="contrib-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740" y="26746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40680" y="25146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Evidência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5440680" y="2880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do que o Nexo melhora, e onde falha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Qualquer resultado, positivo ou negativo, é uma contribuição válida.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xo">
  <a:themeElements>
    <a:clrScheme name="Nexo">
      <a:dk1>
        <a:srgbClr val="1C2230"/>
      </a:dk1>
      <a:lt1>
        <a:srgbClr val="FFFFFF"/>
      </a:lt1>
      <a:dk2>
        <a:srgbClr val="2B3240"/>
      </a:dk2>
      <a:lt2>
        <a:srgbClr val="F3F4F6"/>
      </a:lt2>
      <a:accent1>
        <a:srgbClr val="D9581E"/>
      </a:accent1>
      <a:accent2>
        <a:srgbClr val="F2A541"/>
      </a:accent2>
      <a:accent3>
        <a:srgbClr val="2E9E6B"/>
      </a:accent3>
      <a:accent4>
        <a:srgbClr val="4B5D7A"/>
      </a:accent4>
      <a:accent5>
        <a:srgbClr val="9AA5B8"/>
      </a:accent5>
      <a:accent6>
        <a:srgbClr val="FBE3D6"/>
      </a:accent6>
      <a:hlink>
        <a:srgbClr val="D9581E"/>
      </a:hlink>
      <a:folHlink>
        <a:srgbClr val="4B5D7A"/>
      </a:folHlink>
    </a:clrScheme>
    <a:fontScheme name="Nex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Nexo: proposta de TCC</dc:title>
  <dc:subject>Da necessidade à especificação verificável: abordagem híbrida com IA generativa, modelos estruturados e validação determinística</dc:subject>
  <dc:creator>Nathan Thomaz</dc:creator>
  <cp:lastModifiedBy>Nathan Thomaz</cp:lastModifiedBy>
  <cp:revision>1</cp:revision>
  <dcterms:created xsi:type="dcterms:W3CDTF">2026-10-28T21:45:31Z</dcterms:created>
  <dcterms:modified xsi:type="dcterms:W3CDTF">2026-10-28T21:45:31Z</dcterms:modified>
</cp:coreProperties>
</file>